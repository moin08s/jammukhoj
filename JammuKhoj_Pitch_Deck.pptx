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10911535" cy="5760720"/>
          </a:xfrm>
          <a:prstGeom prst="roundRect">
            <a:avLst/>
          </a:prstGeom>
          <a:solidFill>
            <a:srgbClr val="07241E"/>
          </a:solidFill>
          <a:ln w="19050">
            <a:solidFill>
              <a:srgbClr val="D98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96012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6974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D98210"/>
                </a:solidFill>
                <a:latin typeface="Arial"/>
              </a:defRPr>
            </a:pPr>
            <a:r>
              <a:t>OFFLINE-FIRST CIVIC TRAVEL INNOVATION • JAMMU DIVISION &amp; VAISHNO DEVI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4484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Georgia"/>
              </a:defRPr>
            </a:pPr>
            <a:r>
              <a:t>JammuKhoj</a:t>
            </a:r>
          </a:p>
          <a:p>
            <a:pPr algn="ctr">
              <a:defRPr sz="1650">
                <a:solidFill>
                  <a:srgbClr val="D98210"/>
                </a:solidFill>
                <a:latin typeface="Arial"/>
              </a:defRPr>
            </a:pPr>
            <a:r>
              <a:t>जम्मू खोज • Your Jammu Journey, Made Simple.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60520"/>
            <a:ext cx="8534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A production-ready progressive web app &amp; Android platform engineered for transit layovers and Mata Vaishno Devi pilgrims. 100% offline-ready with conservative train/flight safety buffers, transparent transport fare matrices, step-free senior guidance, and zero-tracking privacy.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937760"/>
            <a:ext cx="2423160" cy="749808"/>
          </a:xfrm>
          <a:prstGeom prst="roundRect">
            <a:avLst/>
          </a:prstGeom>
          <a:solidFill>
            <a:srgbClr val="0B3D33"/>
          </a:solidFill>
          <a:ln w="12700">
            <a:solidFill>
              <a:srgbClr val="D98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4992624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8210"/>
                </a:solidFill>
              </a:defRPr>
            </a:pPr>
            <a:r>
              <a:t>⚡ 1-Tap Buffer Planner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4h, 8h &amp; 24h layover circuits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1" y="4937760"/>
            <a:ext cx="2423160" cy="749808"/>
          </a:xfrm>
          <a:prstGeom prst="roundRect">
            <a:avLst/>
          </a:prstGeom>
          <a:solidFill>
            <a:srgbClr val="0B3D33"/>
          </a:solidFill>
          <a:ln w="12700">
            <a:solidFill>
              <a:srgbClr val="D98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3" y="4992624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8210"/>
                </a:solidFill>
              </a:defRPr>
            </a:pPr>
            <a:r>
              <a:t>📶 100% Offline IndexedDB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Vector maps &amp; full routing offline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623" y="4937760"/>
            <a:ext cx="2423160" cy="749808"/>
          </a:xfrm>
          <a:prstGeom prst="roundRect">
            <a:avLst/>
          </a:prstGeom>
          <a:solidFill>
            <a:srgbClr val="0B3D33"/>
          </a:solidFill>
          <a:ln w="12700">
            <a:solidFill>
              <a:srgbClr val="D98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8775" y="4992624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8210"/>
                </a:solidFill>
              </a:defRPr>
            </a:pPr>
            <a:r>
              <a:t>🚌 Transparent Transit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Matadors (₹10-25), Autos &amp; Taxis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77656" y="4937760"/>
            <a:ext cx="2423160" cy="749808"/>
          </a:xfrm>
          <a:prstGeom prst="roundRect">
            <a:avLst/>
          </a:prstGeom>
          <a:solidFill>
            <a:srgbClr val="0B3D33"/>
          </a:solidFill>
          <a:ln w="12700">
            <a:solidFill>
              <a:srgbClr val="D98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0808" y="4992624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8210"/>
                </a:solidFill>
              </a:defRPr>
            </a:pPr>
            <a:r>
              <a:t>🧓 Senior &amp; Pilgrim Ease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Step-free, battery cars &amp; 112 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833872"/>
            <a:ext cx="9448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4C8C0"/>
                </a:solidFill>
              </a:defRPr>
            </a:pPr>
            <a:r>
              <a:t>Production Release • October 2026 • Live Demo: https://bucolic-buttercream-966135.netlify.app/ • Domain: https://jammukhoj.in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A84D0E"/>
                </a:solidFill>
                <a:latin typeface="Arial"/>
              </a:defRPr>
            </a:pPr>
            <a:r>
              <a:t>02 •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B3D33"/>
                </a:solidFill>
                <a:latin typeface="Georgia"/>
              </a:defRPr>
            </a:pPr>
            <a:r>
              <a:t>The Transit Anxiety &amp; Information Vacuum in Jammu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F6E67"/>
                </a:solidFill>
                <a:latin typeface="Arial"/>
              </a:defRPr>
            </a:pPr>
            <a:r>
              <a:t>Why millions of pilgrims pass through Jammu with friction, fear, and zero local discovery.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685800"/>
          </a:xfrm>
          <a:prstGeom prst="roundRect">
            <a:avLst/>
          </a:prstGeom>
          <a:solidFill>
            <a:srgbClr val="F3EEE6"/>
          </a:solidFill>
          <a:ln w="12700">
            <a:solidFill>
              <a:srgbClr val="D98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3D33"/>
                </a:solidFill>
              </a:defRPr>
            </a:pPr>
            <a:r>
              <a:t>THE CORE DILEMMA: Jammu is treated as a high-friction railway transfer point rather than a cultural destination.</a:t>
            </a:r>
          </a:p>
          <a:p>
            <a:pPr>
              <a:defRPr sz="950">
                <a:solidFill>
                  <a:srgbClr val="5F6E67"/>
                </a:solidFill>
              </a:defRPr>
            </a:pPr>
            <a:r>
              <a:t>Over 10 Million yatris enter annually, yet fear of missing departures keeps them trapped on waiting platforms without guidance.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3504895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172968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A84D0E"/>
                </a:solidFill>
                <a:latin typeface="Georgia"/>
              </a:defRPr>
            </a:pPr>
            <a:r>
              <a:t>🚨 01. The Transit Panic</a:t>
            </a:r>
          </a:p>
          <a:p>
            <a:pPr>
              <a:spcAft>
                <a:spcPts val="800"/>
              </a:spcAft>
              <a:defRPr sz="1050" b="1">
                <a:solidFill>
                  <a:srgbClr val="18221E"/>
                </a:solidFill>
              </a:defRPr>
            </a:pPr>
            <a:r>
              <a:t>Fear of Missing Onward Trains / Flights</a:t>
            </a:r>
          </a:p>
          <a:p>
            <a:pPr>
              <a:spcAft>
                <a:spcPts val="500"/>
              </a:spcAft>
              <a:defRPr sz="950">
                <a:solidFill>
                  <a:srgbClr val="5F6E67"/>
                </a:solidFill>
              </a:defRPr>
            </a:pPr>
            <a:r>
              <a:t>•  Pilgrims face 4 to 12 hour layovers at Jammu Tawi or IXJ Airport.</a:t>
            </a:r>
          </a:p>
          <a:p>
            <a:pPr>
              <a:spcAft>
                <a:spcPts val="500"/>
              </a:spcAft>
              <a:defRPr sz="950">
                <a:solidFill>
                  <a:srgbClr val="5F6E67"/>
                </a:solidFill>
              </a:defRPr>
            </a:pPr>
            <a:r>
              <a:t>•  Fear of mountain highway bottlenecks traps families on railway platforms.</a:t>
            </a:r>
          </a:p>
          <a:p>
            <a:pPr>
              <a:spcAft>
                <a:spcPts val="500"/>
              </a:spcAft>
              <a:defRPr sz="950">
                <a:solidFill>
                  <a:srgbClr val="5F6E67"/>
                </a:solidFill>
              </a:defRPr>
            </a:pPr>
            <a:r>
              <a:t>•  Zero existing tools compute guaranteed conservative safety return buffers.</a:t>
            </a:r>
          </a:p>
          <a:p>
            <a:pPr>
              <a:spcAft>
                <a:spcPts val="500"/>
              </a:spcAft>
              <a:defRPr sz="950">
                <a:solidFill>
                  <a:srgbClr val="5F6E67"/>
                </a:solidFill>
              </a:defRPr>
            </a:pPr>
            <a:r>
              <a:t>•  Result: Over 85% of visitors never step outside the station compound.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514600"/>
            <a:ext cx="3504895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651760"/>
            <a:ext cx="3172968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A84D0E"/>
                </a:solidFill>
                <a:latin typeface="Georgia"/>
              </a:defRPr>
            </a:pPr>
            <a:r>
              <a:t>💸 02. The ₹1,200 Haggling Tax</a:t>
            </a:r>
          </a:p>
          <a:p>
            <a:pPr>
              <a:spcAft>
                <a:spcPts val="800"/>
              </a:spcAft>
              <a:defRPr sz="1050" b="1">
                <a:solidFill>
                  <a:srgbClr val="18221E"/>
                </a:solidFill>
              </a:defRPr>
            </a:pPr>
            <a:r>
              <a:t>Unregulated Fares &amp; Commuter Harassment</a:t>
            </a:r>
          </a:p>
          <a:p>
            <a:pPr>
              <a:spcAft>
                <a:spcPts val="500"/>
              </a:spcAft>
              <a:defRPr sz="950">
                <a:solidFill>
                  <a:srgbClr val="5F6E67"/>
                </a:solidFill>
              </a:defRPr>
            </a:pPr>
            <a:r>
              <a:t>•  Unsuspecting yatris routinely charged ₹800–₹1,500 for a ₹150 taxi ride.</a:t>
            </a:r>
          </a:p>
          <a:p>
            <a:pPr>
              <a:spcAft>
                <a:spcPts val="500"/>
              </a:spcAft>
              <a:defRPr sz="950">
                <a:solidFill>
                  <a:srgbClr val="5F6E67"/>
                </a:solidFill>
              </a:defRPr>
            </a:pPr>
            <a:r>
              <a:t>•  Matador mini-bus stages and route numbers are completely opaque to outsiders.</a:t>
            </a:r>
          </a:p>
          <a:p>
            <a:pPr>
              <a:spcAft>
                <a:spcPts val="500"/>
              </a:spcAft>
              <a:defRPr sz="950">
                <a:solidFill>
                  <a:srgbClr val="5F6E67"/>
                </a:solidFill>
              </a:defRPr>
            </a:pPr>
            <a:r>
              <a:t>•  Zero visibility into official prepaid auto/taxi union rate cards.</a:t>
            </a:r>
          </a:p>
          <a:p>
            <a:pPr>
              <a:spcAft>
                <a:spcPts val="500"/>
              </a:spcAft>
              <a:defRPr sz="950">
                <a:solidFill>
                  <a:srgbClr val="5F6E67"/>
                </a:solidFill>
              </a:defRPr>
            </a:pPr>
            <a:r>
              <a:t>•  Result: Tourists feel exploited within their first hour in Jammu.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514600"/>
            <a:ext cx="3504895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2651760"/>
            <a:ext cx="3172968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A84D0E"/>
                </a:solidFill>
                <a:latin typeface="Georgia"/>
              </a:defRPr>
            </a:pPr>
            <a:r>
              <a:t>📴 03. The Mountain Blackout</a:t>
            </a:r>
          </a:p>
          <a:p>
            <a:pPr>
              <a:spcAft>
                <a:spcPts val="800"/>
              </a:spcAft>
              <a:defRPr sz="1050" b="1">
                <a:solidFill>
                  <a:srgbClr val="18221E"/>
                </a:solidFill>
              </a:defRPr>
            </a:pPr>
            <a:r>
              <a:t>Cellular Dead Zones &amp; Elder Strain</a:t>
            </a:r>
          </a:p>
          <a:p>
            <a:pPr>
              <a:spcAft>
                <a:spcPts val="500"/>
              </a:spcAft>
              <a:defRPr sz="950">
                <a:solidFill>
                  <a:srgbClr val="5F6E67"/>
                </a:solidFill>
              </a:defRPr>
            </a:pPr>
            <a:r>
              <a:t>•  Cloud-based travel apps crash in Shivalik foothill tunnels and dead zones.</a:t>
            </a:r>
          </a:p>
          <a:p>
            <a:pPr>
              <a:spcAft>
                <a:spcPts val="500"/>
              </a:spcAft>
              <a:defRPr sz="950">
                <a:solidFill>
                  <a:srgbClr val="5F6E67"/>
                </a:solidFill>
              </a:defRPr>
            </a:pPr>
            <a:r>
              <a:t>•  Senior citizens face unexpected steep stairs without wheelchair/battery-car guidance.</a:t>
            </a:r>
          </a:p>
          <a:p>
            <a:pPr>
              <a:spcAft>
                <a:spcPts val="500"/>
              </a:spcAft>
              <a:defRPr sz="950">
                <a:solidFill>
                  <a:srgbClr val="5F6E67"/>
                </a:solidFill>
              </a:defRPr>
            </a:pPr>
            <a:r>
              <a:t>•  Emergency hotlines and National ERSS 112 are scattered across fragmented websites.</a:t>
            </a:r>
          </a:p>
          <a:p>
            <a:pPr>
              <a:spcAft>
                <a:spcPts val="500"/>
              </a:spcAft>
              <a:defRPr sz="950">
                <a:solidFill>
                  <a:srgbClr val="5F6E67"/>
                </a:solidFill>
              </a:defRPr>
            </a:pPr>
            <a:r>
              <a:t>•  Result: Families with elders experience high physical and mental stress.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7"/>
                </a:solidFill>
                <a:latin typeface="Arial"/>
              </a:defRPr>
            </a:pPr>
            <a:r>
              <a:t>JammuKhoj • Smart Tourism &amp; Pilgrim Companion • Live Demo: https://bucolic-buttercream-966135.netlify.app/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A84D0E"/>
                </a:solidFill>
                <a:latin typeface="Arial"/>
              </a:defRPr>
            </a:pPr>
            <a:r>
              <a:t>03 • ECONOMIC &amp; CULTURAL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B3D33"/>
                </a:solidFill>
                <a:latin typeface="Georgia"/>
              </a:defRPr>
            </a:pPr>
            <a:r>
              <a:t>The 10-Million Pilgrim Paradox: Direct Transit Bypass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F6E67"/>
                </a:solidFill>
                <a:latin typeface="Arial"/>
              </a:defRPr>
            </a:pPr>
            <a:r>
              <a:t>Immense visitor footfall that completely bypasses Jammu's cultural and economic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114800" cy="4480560"/>
          </a:xfrm>
          <a:prstGeom prst="roundRect">
            <a:avLst/>
          </a:prstGeom>
          <a:solidFill>
            <a:srgbClr val="0B3D33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98210"/>
                </a:solidFill>
                <a:latin typeface="Georgia"/>
              </a:defRPr>
            </a:pPr>
            <a:r>
              <a:t>10,000,000+</a:t>
            </a:r>
          </a:p>
          <a:p>
            <a:pPr>
              <a:spcAft>
                <a:spcPts val="1800"/>
              </a:spcAft>
              <a:defRPr sz="1200">
                <a:solidFill>
                  <a:srgbClr val="FFFFFF"/>
                </a:solidFill>
              </a:defRPr>
            </a:pPr>
            <a:r>
              <a:t>Annual pilgrims transit through Jammu Tawi &amp; Katra to reach Shri Mata Vaishno Devi Shrine.</a:t>
            </a:r>
          </a:p>
          <a:p>
            <a:pPr>
              <a:defRPr sz="3200" b="1">
                <a:solidFill>
                  <a:srgbClr val="D98210"/>
                </a:solidFill>
                <a:latin typeface="Georgia"/>
              </a:defRPr>
            </a:pPr>
            <a:r>
              <a:t>&lt; 2 Hours</a:t>
            </a:r>
          </a:p>
          <a:p>
            <a:pPr>
              <a:spcAft>
                <a:spcPts val="1600"/>
              </a:spcAft>
              <a:defRPr sz="1150">
                <a:solidFill>
                  <a:srgbClr val="FFFFFF"/>
                </a:solidFill>
              </a:defRPr>
            </a:pPr>
            <a:r>
              <a:t>Average transit dwell in Jammu City. Over 85% of yatris treat Jammu as a mere train-to-bus transit hallway.</a:t>
            </a:r>
          </a:p>
          <a:p>
            <a:pPr>
              <a:defRPr sz="2800" b="1">
                <a:solidFill>
                  <a:srgbClr val="D98210"/>
                </a:solidFill>
                <a:latin typeface="Georgia"/>
              </a:defRPr>
            </a:pPr>
            <a:r>
              <a:t>₹300+ Crores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Estimated annual municipal revenue lost in local hospitality, authentic craft, and cultural transit.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91640"/>
            <a:ext cx="633953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874519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B3D33"/>
                </a:solidFill>
                <a:latin typeface="Georgia"/>
              </a:defRPr>
            </a:pPr>
            <a:r>
              <a:t>Where the Visitor Value Is Lost</a:t>
            </a:r>
          </a:p>
          <a:p>
            <a:pPr>
              <a:defRPr sz="1150" b="1">
                <a:solidFill>
                  <a:srgbClr val="A84D0E"/>
                </a:solidFill>
              </a:defRPr>
            </a:pPr>
            <a:r>
              <a:t>🏛️ Heritage Neglect</a:t>
            </a:r>
          </a:p>
          <a:p>
            <a:pPr>
              <a:spcAft>
                <a:spcPts val="600"/>
              </a:spcAft>
              <a:defRPr sz="1000">
                <a:solidFill>
                  <a:srgbClr val="5F6E67"/>
                </a:solidFill>
              </a:defRPr>
            </a:pPr>
            <a:r>
              <a:t>Mubarak Mandi Palace (seat of Dogra dynasty), Bahu Fort (3000-yr landmark), and Amar Mahal witness &lt;5% of pilgrim footfall due to missing structured half-day circuits.</a:t>
            </a:r>
          </a:p>
          <a:p>
            <a:pPr>
              <a:defRPr sz="1150" b="1">
                <a:solidFill>
                  <a:srgbClr val="A84D0E"/>
                </a:solidFill>
              </a:defRPr>
            </a:pPr>
            <a:r>
              <a:t>🛍️ GI Craft Exploitation</a:t>
            </a:r>
          </a:p>
          <a:p>
            <a:pPr>
              <a:spcAft>
                <a:spcPts val="600"/>
              </a:spcAft>
              <a:defRPr sz="1000">
                <a:solidFill>
                  <a:srgbClr val="5F6E67"/>
                </a:solidFill>
              </a:defRPr>
            </a:pPr>
            <a:r>
              <a:t>Authentic Dogra crafts (Basohli Paintings, Pashmina, Basohli Tweed, Bhaderwah Rajmash) lose sales to roadside counterfeit stalls because visitors lack a verified artisan directory.</a:t>
            </a:r>
          </a:p>
          <a:p>
            <a:pPr>
              <a:defRPr sz="1150" b="1">
                <a:solidFill>
                  <a:srgbClr val="A84D0E"/>
                </a:solidFill>
              </a:defRPr>
            </a:pPr>
            <a:r>
              <a:t>🍲 Forgotten Culinary Economy</a:t>
            </a:r>
          </a:p>
          <a:p>
            <a:pPr>
              <a:spcAft>
                <a:spcPts val="600"/>
              </a:spcAft>
              <a:defRPr sz="1000">
                <a:solidFill>
                  <a:srgbClr val="5F6E67"/>
                </a:solidFill>
              </a:defRPr>
            </a:pPr>
            <a:r>
              <a:t>Indigenous nutritious Dogra delicacies (Kaladi Kulcha, Dogra Dham, Sund Panjeeri) lose out to generic highway fast food due to lack of hygienic, verified food trails.</a:t>
            </a:r>
          </a:p>
          <a:p>
            <a:pPr>
              <a:defRPr sz="1150" b="1">
                <a:solidFill>
                  <a:srgbClr val="A84D0E"/>
                </a:solidFill>
              </a:defRPr>
            </a:pPr>
            <a:r>
              <a:t>📉 Transit Inefficiency</a:t>
            </a:r>
          </a:p>
          <a:p>
            <a:pPr>
              <a:spcAft>
                <a:spcPts val="600"/>
              </a:spcAft>
              <a:defRPr sz="1000">
                <a:solidFill>
                  <a:srgbClr val="5F6E67"/>
                </a:solidFill>
              </a:defRPr>
            </a:pPr>
            <a:r>
              <a:t>Public Matador mini-buses and E-buses run with irregular passenger loads while private touts crowd station gates, driving congestion and commuter dissatisfaction.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7"/>
                </a:solidFill>
                <a:latin typeface="Arial"/>
              </a:defRPr>
            </a:pPr>
            <a:r>
              <a:t>JammuKhoj • Smart Tourism &amp; Pilgrim Companion • Live Demo: https://bucolic-buttercream-966135.netlify.app/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A84D0E"/>
                </a:solidFill>
                <a:latin typeface="Arial"/>
              </a:defRPr>
            </a:pPr>
            <a:r>
              <a:t>04 • THE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B3D33"/>
                </a:solidFill>
                <a:latin typeface="Georgia"/>
              </a:defRPr>
            </a:pPr>
            <a:r>
              <a:t>JammuKhoj: An Intelligent, Resilient Local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F6E67"/>
                </a:solidFill>
                <a:latin typeface="Arial"/>
              </a:defRPr>
            </a:pPr>
            <a:r>
              <a:t>A human-centered progressive application tailored for zero-data environments and time-critical pilgrims.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9319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B3D33"/>
                </a:solidFill>
                <a:latin typeface="Georgia"/>
              </a:defRPr>
            </a:pPr>
            <a:r>
              <a:t>⚡ 1-Tap Buffer-Safe Engine</a:t>
            </a:r>
          </a:p>
          <a:p>
            <a:pPr>
              <a:defRPr sz="1000">
                <a:solidFill>
                  <a:srgbClr val="5F6E67"/>
                </a:solidFill>
              </a:defRPr>
            </a:pPr>
            <a:r>
              <a:t>Deterministic layover itinerary engine tailored to traveler's exact departure deadline (4h Express, 8h Cultural, 24h Valley trail). Enforces a strict 45-min rail buffer &amp; 150-min air buffer, eliminating missed departures.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39319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142231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B3D33"/>
                </a:solidFill>
                <a:latin typeface="Georgia"/>
              </a:defRPr>
            </a:pPr>
            <a:r>
              <a:t>📶 100% Offline Vector Stack</a:t>
            </a:r>
          </a:p>
          <a:p>
            <a:pPr>
              <a:defRPr sz="1000">
                <a:solidFill>
                  <a:srgbClr val="5F6E67"/>
                </a:solidFill>
              </a:defRPr>
            </a:pPr>
            <a:r>
              <a:t>Entire knowledge graph (36+ attractions, road topologies, timetables, dialer hotlines) bundled in local IndexedDB. Operates with zero SIM or data roaming in mountain valleys.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691640"/>
            <a:ext cx="2468880" cy="4480560"/>
          </a:xfrm>
          <a:prstGeom prst="roundRect">
            <a:avLst/>
          </a:prstGeom>
          <a:solidFill>
            <a:srgbClr val="141A18"/>
          </a:solidFill>
          <a:ln w="19050">
            <a:solidFill>
              <a:srgbClr val="D98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pp_home_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764792"/>
            <a:ext cx="2322576" cy="433425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79" y="1691640"/>
            <a:ext cx="396209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85623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B3D33"/>
                </a:solidFill>
                <a:latin typeface="Georgia"/>
              </a:defRPr>
            </a:pPr>
            <a:r>
              <a:t>🚌 Transparent Transit Intelligence</a:t>
            </a:r>
          </a:p>
          <a:p>
            <a:pPr>
              <a:defRPr sz="1000">
                <a:solidFill>
                  <a:srgbClr val="5F6E67"/>
                </a:solidFill>
              </a:defRPr>
            </a:pPr>
            <a:r>
              <a:t>Verified stage-by-stage Matador mini-bus routes, Smart City E-bus stops, and prepaid union matrices for auto-rickshaws and taxis to end passenger overcharging.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977639"/>
            <a:ext cx="396209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4142231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B3D33"/>
                </a:solidFill>
                <a:latin typeface="Georgia"/>
              </a:defRPr>
            </a:pPr>
            <a:r>
              <a:t>🧓 Elder &amp; Accessibility Care</a:t>
            </a:r>
          </a:p>
          <a:p>
            <a:pPr>
              <a:defRPr sz="1000">
                <a:solidFill>
                  <a:srgbClr val="5F6E67"/>
                </a:solidFill>
              </a:defRPr>
            </a:pPr>
            <a:r>
              <a:t>Step-free badges, walking load indicators (Low/Med/High), verified Vaishno Devi 5-stage trek manual, battery-car regulations, and 1-tap ERSS 112 WhatsApp location SOS.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7"/>
                </a:solidFill>
                <a:latin typeface="Arial"/>
              </a:defRPr>
            </a:pPr>
            <a:r>
              <a:t>JammuKhoj • Smart Tourism &amp; Pilgrim Companion • Live Demo: https://bucolic-buttercream-966135.netlify.app/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A84D0E"/>
                </a:solidFill>
                <a:latin typeface="Arial"/>
              </a:defRPr>
            </a:pPr>
            <a:r>
              <a:t>05 • SEAMLESS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B3D33"/>
                </a:solidFill>
                <a:latin typeface="Georgia"/>
              </a:defRPr>
            </a:pPr>
            <a:r>
              <a:t>From Station Arrival to Holy Darshan in 5 Frictionless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F6E67"/>
                </a:solidFill>
                <a:latin typeface="Arial"/>
              </a:defRPr>
            </a:pPr>
            <a:r>
              <a:t>Designed for immediate value without forced registration, heavy downloads, or steep learning curves.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7772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7406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4D0E"/>
                </a:solidFill>
              </a:defRPr>
            </a:pPr>
            <a:r>
              <a:t>STEP 1: 1. ARRIVAL AT STATION / AIRPORT</a:t>
            </a:r>
          </a:p>
          <a:p>
            <a:pPr>
              <a:spcAft>
                <a:spcPts val="600"/>
              </a:spcAft>
              <a:defRPr sz="950">
                <a:solidFill>
                  <a:srgbClr val="18221E"/>
                </a:solidFill>
              </a:defRPr>
            </a:pPr>
            <a:r>
              <a:t>Yatri steps off train at Jammu Tawi (JAT) or IXJ Airport. Opens jammukhoj.in directly with 1 tap. Zero mandatory app-store download or login wall.</a:t>
            </a:r>
          </a:p>
          <a:p>
            <a:pPr>
              <a:defRPr sz="1100" b="1">
                <a:solidFill>
                  <a:srgbClr val="A84D0E"/>
                </a:solidFill>
              </a:defRPr>
            </a:pPr>
            <a:r>
              <a:t>STEP 2: 2. 1-TAP ITINERARY GENERATION</a:t>
            </a:r>
          </a:p>
          <a:p>
            <a:pPr>
              <a:spcAft>
                <a:spcPts val="600"/>
              </a:spcAft>
              <a:defRPr sz="950">
                <a:solidFill>
                  <a:srgbClr val="18221E"/>
                </a:solidFill>
              </a:defRPr>
            </a:pPr>
            <a:r>
              <a:t>Selects layover: '4-Hour Express' from station. App automatically reserves 45-min departure buffer and crafts a 2.5-hr curated temple circuit.</a:t>
            </a:r>
          </a:p>
          <a:p>
            <a:pPr>
              <a:defRPr sz="1100" b="1">
                <a:solidFill>
                  <a:srgbClr val="A84D0E"/>
                </a:solidFill>
              </a:defRPr>
            </a:pPr>
            <a:r>
              <a:t>STEP 3: 3. TRANSPARENT LOCAL TRANSIT</a:t>
            </a:r>
          </a:p>
          <a:p>
            <a:pPr>
              <a:spcAft>
                <a:spcPts val="600"/>
              </a:spcAft>
              <a:defRPr sz="950">
                <a:solidFill>
                  <a:srgbClr val="18221E"/>
                </a:solidFill>
              </a:defRPr>
            </a:pPr>
            <a:r>
              <a:t>Checks Matador Route #1 to Raghunath Bazaar. Boards with exact ₹15 fare; avoids cab touts quoting ₹400 for the same distance.</a:t>
            </a:r>
          </a:p>
          <a:p>
            <a:pPr>
              <a:defRPr sz="1100" b="1">
                <a:solidFill>
                  <a:srgbClr val="A84D0E"/>
                </a:solidFill>
              </a:defRPr>
            </a:pPr>
            <a:r>
              <a:t>STEP 4: 4. CULTURAL DISCOVERY &amp; PURE VEG FOOD</a:t>
            </a:r>
          </a:p>
          <a:p>
            <a:pPr>
              <a:spcAft>
                <a:spcPts val="600"/>
              </a:spcAft>
              <a:defRPr sz="950">
                <a:solidFill>
                  <a:srgbClr val="18221E"/>
                </a:solidFill>
              </a:defRPr>
            </a:pPr>
            <a:r>
              <a:t>Offers prayers at Raghunath Mandir, tastes authentic Kaladi Kulcha with Jain/Pure Veg filter, and visits verified Basohli craft cooperative.</a:t>
            </a:r>
          </a:p>
          <a:p>
            <a:pPr>
              <a:defRPr sz="1100" b="1">
                <a:solidFill>
                  <a:srgbClr val="A84D0E"/>
                </a:solidFill>
              </a:defRPr>
            </a:pPr>
            <a:r>
              <a:t>STEP 5: 5. SAFE ONWARD DEPARTURE</a:t>
            </a:r>
          </a:p>
          <a:p>
            <a:pPr>
              <a:spcAft>
                <a:spcPts val="600"/>
              </a:spcAft>
              <a:defRPr sz="950">
                <a:solidFill>
                  <a:srgbClr val="18221E"/>
                </a:solidFill>
              </a:defRPr>
            </a:pPr>
            <a:r>
              <a:t>Returns to station with 50 minutes to spare. Boards onward Vande Bharat Express to Katra for holy darshan with complete peace of mind.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691640"/>
            <a:ext cx="2681935" cy="4480560"/>
          </a:xfrm>
          <a:prstGeom prst="roundRect">
            <a:avLst/>
          </a:prstGeom>
          <a:solidFill>
            <a:srgbClr val="141A18"/>
          </a:solidFill>
          <a:ln w="19050">
            <a:solidFill>
              <a:srgbClr val="D98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tinerary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1764792"/>
            <a:ext cx="2535631" cy="4334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7"/>
                </a:solidFill>
                <a:latin typeface="Arial"/>
              </a:defRPr>
            </a:pPr>
            <a:r>
              <a:t>JammuKhoj • Smart Tourism &amp; Pilgrim Companion • Live Demo: https://bucolic-buttercream-966135.netlify.app/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A84D0E"/>
                </a:solidFill>
                <a:latin typeface="Arial"/>
              </a:defRPr>
            </a:pPr>
            <a:r>
              <a:t>06 • COMPETITIVE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B3D33"/>
                </a:solidFill>
                <a:latin typeface="Georgia"/>
              </a:defRPr>
            </a:pPr>
            <a:r>
              <a:t>How JammuKhoj Outperforms Generic Travel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F6E67"/>
                </a:solidFill>
                <a:latin typeface="Arial"/>
              </a:defRPr>
            </a:pPr>
            <a:r>
              <a:t>Direct comparison against Google Maps, MakeMyTrip, and generic travel blogs.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7772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20240"/>
                <a:gridCol w="1920240"/>
                <a:gridCol w="2194560"/>
              </a:tblGrid>
              <a:tr h="7467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724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Google Maps</a:t>
                      </a:r>
                    </a:p>
                  </a:txBody>
                  <a:tcPr>
                    <a:solidFill>
                      <a:srgbClr val="0724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MakeMyTrip / OTAs</a:t>
                      </a:r>
                    </a:p>
                  </a:txBody>
                  <a:tcPr>
                    <a:solidFill>
                      <a:srgbClr val="0724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98210"/>
                          </a:solidFill>
                        </a:defRPr>
                      </a:pPr>
                      <a:r>
                        <a:t>JammuKhoj (Our App)</a:t>
                      </a:r>
                    </a:p>
                  </a:txBody>
                  <a:tcPr>
                    <a:solidFill>
                      <a:srgbClr val="0B3D3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221E"/>
                          </a:solidFill>
                          <a:latin typeface="Arial"/>
                        </a:defRPr>
                      </a:pPr>
                      <a:r>
                        <a:t>Offline Autonomy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F6E67"/>
                          </a:solidFill>
                          <a:latin typeface="Arial"/>
                        </a:defRPr>
                      </a:pPr>
                      <a:r>
                        <a:t>Fails in mountain tunnels &amp; valleys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F6E67"/>
                          </a:solidFill>
                          <a:latin typeface="Arial"/>
                        </a:defRPr>
                      </a:pPr>
                      <a:r>
                        <a:t>100% online only; unusable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3D33"/>
                          </a:solidFill>
                          <a:latin typeface="Arial"/>
                        </a:defRPr>
                      </a:pPr>
                      <a:r>
                        <a:t>100% On-Device IndexedDB</a:t>
                      </a:r>
                    </a:p>
                  </a:txBody>
                  <a:tcPr>
                    <a:solidFill>
                      <a:srgbClr val="EEF7F2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221E"/>
                          </a:solidFill>
                          <a:latin typeface="Arial"/>
                        </a:defRPr>
                      </a:pPr>
                      <a:r>
                        <a:t>Safe Buffer Planner</a:t>
                      </a:r>
                    </a:p>
                  </a:txBody>
                  <a:tcPr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F6E67"/>
                          </a:solidFill>
                          <a:latin typeface="Arial"/>
                        </a:defRPr>
                      </a:pPr>
                      <a:r>
                        <a:t>Ignores train layover deadlines</a:t>
                      </a:r>
                    </a:p>
                  </a:txBody>
                  <a:tcPr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F6E67"/>
                          </a:solidFill>
                          <a:latin typeface="Arial"/>
                        </a:defRPr>
                      </a:pPr>
                      <a:r>
                        <a:t>Rigid commercial packages only</a:t>
                      </a:r>
                    </a:p>
                  </a:txBody>
                  <a:tcPr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3D33"/>
                          </a:solidFill>
                          <a:latin typeface="Arial"/>
                        </a:defRPr>
                      </a:pPr>
                      <a:r>
                        <a:t>45m rail &amp; 150m air locks</a:t>
                      </a:r>
                    </a:p>
                  </a:txBody>
                  <a:tcPr>
                    <a:solidFill>
                      <a:srgbClr val="EEF7F2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221E"/>
                          </a:solidFill>
                          <a:latin typeface="Arial"/>
                        </a:defRPr>
                      </a:pPr>
                      <a:r>
                        <a:t>Transit Tariffs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F6E67"/>
                          </a:solidFill>
                          <a:latin typeface="Arial"/>
                        </a:defRPr>
                      </a:pPr>
                      <a:r>
                        <a:t>No Matadors; no fare benchmarks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F6E67"/>
                          </a:solidFill>
                          <a:latin typeface="Arial"/>
                        </a:defRPr>
                      </a:pPr>
                      <a:r>
                        <a:t>Commercial cabs at high markup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3D33"/>
                          </a:solidFill>
                          <a:latin typeface="Arial"/>
                        </a:defRPr>
                      </a:pPr>
                      <a:r>
                        <a:t>Matadors (₹10-25) + Taxi matrices</a:t>
                      </a:r>
                    </a:p>
                  </a:txBody>
                  <a:tcPr>
                    <a:solidFill>
                      <a:srgbClr val="EEF7F2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221E"/>
                          </a:solidFill>
                          <a:latin typeface="Arial"/>
                        </a:defRPr>
                      </a:pPr>
                      <a:r>
                        <a:t>Senior &amp; Pilgrim Care</a:t>
                      </a:r>
                    </a:p>
                  </a:txBody>
                  <a:tcPr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F6E67"/>
                          </a:solidFill>
                          <a:latin typeface="Arial"/>
                        </a:defRPr>
                      </a:pPr>
                      <a:r>
                        <a:t>No stair counts or walking load</a:t>
                      </a:r>
                    </a:p>
                  </a:txBody>
                  <a:tcPr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F6E67"/>
                          </a:solidFill>
                          <a:latin typeface="Arial"/>
                        </a:defRPr>
                      </a:pPr>
                      <a:r>
                        <a:t>Generic packages</a:t>
                      </a:r>
                    </a:p>
                  </a:txBody>
                  <a:tcPr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3D33"/>
                          </a:solidFill>
                          <a:latin typeface="Arial"/>
                        </a:defRPr>
                      </a:pPr>
                      <a:r>
                        <a:t>Senior Ease Mode &amp; step-free tags</a:t>
                      </a:r>
                    </a:p>
                  </a:txBody>
                  <a:tcPr>
                    <a:solidFill>
                      <a:srgbClr val="EEF7F2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221E"/>
                          </a:solidFill>
                          <a:latin typeface="Arial"/>
                        </a:defRPr>
                      </a:pPr>
                      <a:r>
                        <a:t>Privacy &amp; Data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F6E67"/>
                          </a:solidFill>
                          <a:latin typeface="Arial"/>
                        </a:defRPr>
                      </a:pPr>
                      <a:r>
                        <a:t>Ad-tracking &amp; location profiling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F6E67"/>
                          </a:solidFill>
                          <a:latin typeface="Arial"/>
                        </a:defRPr>
                      </a:pPr>
                      <a:r>
                        <a:t>Monetizes user contact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3D33"/>
                          </a:solidFill>
                          <a:latin typeface="Arial"/>
                        </a:defRPr>
                      </a:pPr>
                      <a:r>
                        <a:t>Zero cookies, zero surveillance</a:t>
                      </a:r>
                    </a:p>
                  </a:txBody>
                  <a:tcPr>
                    <a:solidFill>
                      <a:srgbClr val="EEF7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778240" y="1691640"/>
            <a:ext cx="2681935" cy="4480560"/>
          </a:xfrm>
          <a:prstGeom prst="roundRect">
            <a:avLst/>
          </a:prstGeom>
          <a:solidFill>
            <a:srgbClr val="141A18"/>
          </a:solidFill>
          <a:ln w="19050">
            <a:solidFill>
              <a:srgbClr val="D98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_explor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1764792"/>
            <a:ext cx="2535631" cy="4334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7"/>
                </a:solidFill>
                <a:latin typeface="Arial"/>
              </a:defRPr>
            </a:pPr>
            <a:r>
              <a:t>JammuKhoj • Smart Tourism &amp; Pilgrim Companion • Live Demo: https://bucolic-buttercream-966135.netlify.app/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A84D0E"/>
                </a:solidFill>
                <a:latin typeface="Arial"/>
              </a:defRPr>
            </a:pPr>
            <a:r>
              <a:t>07 • IMPACT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B3D33"/>
                </a:solidFill>
                <a:latin typeface="Georgia"/>
              </a:defRPr>
            </a:pPr>
            <a:r>
              <a:t>Measurable Economic, Civic, and Social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F6E67"/>
                </a:solidFill>
                <a:latin typeface="Arial"/>
              </a:defRPr>
            </a:pPr>
            <a:r>
              <a:t>High-leverage socio-economic returns for pilgrims, local businesses, and municipal transit.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60320" cy="1783080"/>
          </a:xfrm>
          <a:prstGeom prst="roundRect">
            <a:avLst/>
          </a:prstGeom>
          <a:solidFill>
            <a:srgbClr val="0B3D33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23408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98210"/>
                </a:solidFill>
                <a:latin typeface="Georgia"/>
              </a:defRPr>
            </a:pPr>
            <a:r>
              <a:t>3x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Dwell Multiplier</a:t>
            </a:r>
          </a:p>
          <a:p>
            <a:pPr>
              <a:defRPr sz="850">
                <a:solidFill>
                  <a:srgbClr val="F3EEE6"/>
                </a:solidFill>
              </a:defRPr>
            </a:pPr>
            <a:r>
              <a:t>Extending transit stay from &lt;2h to 6-8h through safe itineraries.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91640"/>
            <a:ext cx="2560320" cy="1783080"/>
          </a:xfrm>
          <a:prstGeom prst="roundRect">
            <a:avLst/>
          </a:prstGeom>
          <a:solidFill>
            <a:srgbClr val="0B3D33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783080"/>
            <a:ext cx="23408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98210"/>
                </a:solidFill>
                <a:latin typeface="Georgia"/>
              </a:defRPr>
            </a:pPr>
            <a:r>
              <a:t>₹150 Cr+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Economic Target</a:t>
            </a:r>
          </a:p>
          <a:p>
            <a:pPr>
              <a:defRPr sz="850">
                <a:solidFill>
                  <a:srgbClr val="F3EEE6"/>
                </a:solidFill>
              </a:defRPr>
            </a:pPr>
            <a:r>
              <a:t>Direct injection into local Dogra food, crafts &amp; certified transit.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91640"/>
            <a:ext cx="2560320" cy="1783080"/>
          </a:xfrm>
          <a:prstGeom prst="roundRect">
            <a:avLst/>
          </a:prstGeom>
          <a:solidFill>
            <a:srgbClr val="0B3D33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783080"/>
            <a:ext cx="23408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98210"/>
                </a:solidFill>
                <a:latin typeface="Georgia"/>
              </a:defRPr>
            </a:pPr>
            <a:r>
              <a:t>₹1,200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Avg Family Savings</a:t>
            </a:r>
          </a:p>
          <a:p>
            <a:pPr>
              <a:defRPr sz="850">
                <a:solidFill>
                  <a:srgbClr val="F3EEE6"/>
                </a:solidFill>
              </a:defRPr>
            </a:pPr>
            <a:r>
              <a:t>Preventing exploitative cab fares and spurious roadside craft purchases.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91640"/>
            <a:ext cx="2560320" cy="1783080"/>
          </a:xfrm>
          <a:prstGeom prst="roundRect">
            <a:avLst/>
          </a:prstGeom>
          <a:solidFill>
            <a:srgbClr val="0B3D33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3688" y="1783080"/>
            <a:ext cx="23408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98210"/>
                </a:solidFill>
                <a:latin typeface="Georgia"/>
              </a:defRPr>
            </a:pPr>
            <a:r>
              <a:t>0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Missed Departures</a:t>
            </a:r>
          </a:p>
          <a:p>
            <a:pPr>
              <a:defRPr sz="850">
                <a:solidFill>
                  <a:srgbClr val="F3EEE6"/>
                </a:solidFill>
              </a:defRPr>
            </a:pPr>
            <a:r>
              <a:t>100% adherence to conservative rail &amp; flight safety buffers.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5257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B3D33"/>
                </a:solidFill>
                <a:latin typeface="Georgia"/>
              </a:defRPr>
            </a:pPr>
            <a:r>
              <a:t>🏛️ Cultural &amp; GI Heritage Renaissance</a:t>
            </a:r>
          </a:p>
          <a:p>
            <a:pPr>
              <a:defRPr sz="1000">
                <a:solidFill>
                  <a:srgbClr val="5F6E67"/>
                </a:solidFill>
              </a:defRPr>
            </a:pPr>
            <a:r>
              <a:t>Empowers Basohli miniature painters, Pashmina weavers, and Bhaderwah Rajmash farmers with verified outlet discovery and fake-identification guides. Pilgrims purchase authentic GI certified heritage at fair benchmark prices directly supporting traditional craft families.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2375" y="3611880"/>
            <a:ext cx="5257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5255" y="3703320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B3D33"/>
                </a:solidFill>
                <a:latin typeface="Georgia"/>
              </a:defRPr>
            </a:pPr>
            <a:r>
              <a:t>🛡️ Public Safety &amp; Yatra Welfare</a:t>
            </a:r>
          </a:p>
          <a:p>
            <a:pPr>
              <a:defRPr sz="1000">
                <a:solidFill>
                  <a:srgbClr val="5F6E67"/>
                </a:solidFill>
              </a:defRPr>
            </a:pPr>
            <a:r>
              <a:t>1-Tap WhatsApp GPS SOS dispatcher and offline dialers for ERSS 112, SMVDSB Shrine Helplines, and women's assistance. Real-time dynamic temple crowd meters and aarti timings prevent stampedes and reduce elder exhaustion during Navratri surges.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7"/>
                </a:solidFill>
                <a:latin typeface="Arial"/>
              </a:defRPr>
            </a:pPr>
            <a:r>
              <a:t>JammuKhoj • Smart Tourism &amp; Pilgrim Companion • Live Demo: https://bucolic-buttercream-966135.netlify.app/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A84D0E"/>
                </a:solidFill>
                <a:latin typeface="Arial"/>
              </a:defRPr>
            </a:pPr>
            <a:r>
              <a:t>08 • 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B3D33"/>
                </a:solidFill>
                <a:latin typeface="Georgia"/>
              </a:defRPr>
            </a:pPr>
            <a:r>
              <a:t>4-Stage Scalable Deployment Plan (2026 – 2027)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F6E67"/>
                </a:solidFill>
                <a:latin typeface="Arial"/>
              </a:defRPr>
            </a:pPr>
            <a:r>
              <a:t>From proven progressive web app &amp; Android build to institutional statewide rollout.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74520"/>
            <a:ext cx="2286000" cy="365760"/>
          </a:xfrm>
          <a:prstGeom prst="roundRect">
            <a:avLst/>
          </a:prstGeom>
          <a:solidFill>
            <a:srgbClr val="0B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LIVE IN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B3D33"/>
                </a:solidFill>
                <a:latin typeface="Georgia"/>
              </a:defRPr>
            </a:pPr>
            <a:r>
              <a:t>Phase 1: Foundation</a:t>
            </a:r>
          </a:p>
          <a:p>
            <a:pPr>
              <a:spcAft>
                <a:spcPts val="500"/>
              </a:spcAft>
              <a:defRPr sz="919">
                <a:solidFill>
                  <a:srgbClr val="18221E"/>
                </a:solidFill>
              </a:defRPr>
            </a:pPr>
            <a:r>
              <a:t>✔ Live on jammukhoj.in domain</a:t>
            </a:r>
          </a:p>
          <a:p>
            <a:pPr>
              <a:spcAft>
                <a:spcPts val="500"/>
              </a:spcAft>
              <a:defRPr sz="919">
                <a:solidFill>
                  <a:srgbClr val="18221E"/>
                </a:solidFill>
              </a:defRPr>
            </a:pPr>
            <a:r>
              <a:t>✔ 100% offline PWA &amp; Android APK</a:t>
            </a:r>
          </a:p>
          <a:p>
            <a:pPr>
              <a:spcAft>
                <a:spcPts val="500"/>
              </a:spcAft>
              <a:defRPr sz="919">
                <a:solidFill>
                  <a:srgbClr val="18221E"/>
                </a:solidFill>
              </a:defRPr>
            </a:pPr>
            <a:r>
              <a:t>✔ 36+ curated attractions &amp; maps</a:t>
            </a:r>
          </a:p>
          <a:p>
            <a:pPr>
              <a:spcAft>
                <a:spcPts val="500"/>
              </a:spcAft>
              <a:defRPr sz="919">
                <a:solidFill>
                  <a:srgbClr val="18221E"/>
                </a:solidFill>
              </a:defRPr>
            </a:pPr>
            <a:r>
              <a:t>✔ 44 automated unit &amp; E2E tests passing</a:t>
            </a:r>
          </a:p>
          <a:p>
            <a:pPr>
              <a:spcAft>
                <a:spcPts val="500"/>
              </a:spcAft>
              <a:defRPr sz="919">
                <a:solidFill>
                  <a:srgbClr val="18221E"/>
                </a:solidFill>
              </a:defRPr>
            </a:pPr>
            <a:r>
              <a:t>✔ 1-Tap buffer planner &amp; transit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9164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874520"/>
            <a:ext cx="2286000" cy="365760"/>
          </a:xfrm>
          <a:prstGeom prst="roundRect">
            <a:avLst/>
          </a:prstGeom>
          <a:solidFill>
            <a:srgbClr val="A84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Q1-Q2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3172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B3D33"/>
                </a:solidFill>
                <a:latin typeface="Georgia"/>
              </a:defRPr>
            </a:pPr>
            <a:r>
              <a:t>Phase 2: Transit Node Pilot</a:t>
            </a:r>
          </a:p>
          <a:p>
            <a:pPr>
              <a:spcAft>
                <a:spcPts val="500"/>
              </a:spcAft>
              <a:defRPr sz="919">
                <a:solidFill>
                  <a:srgbClr val="5F6E67"/>
                </a:solidFill>
              </a:defRPr>
            </a:pPr>
            <a:r>
              <a:t>• QR kiosks at Jammu Tawi &amp; Katra concourses</a:t>
            </a:r>
          </a:p>
          <a:p>
            <a:pPr>
              <a:spcAft>
                <a:spcPts val="500"/>
              </a:spcAft>
              <a:defRPr sz="919">
                <a:solidFill>
                  <a:srgbClr val="5F6E67"/>
                </a:solidFill>
              </a:defRPr>
            </a:pPr>
            <a:r>
              <a:t>• J&amp;K Smart City e-bus live GPS sync</a:t>
            </a:r>
          </a:p>
          <a:p>
            <a:pPr>
              <a:spcAft>
                <a:spcPts val="500"/>
              </a:spcAft>
              <a:defRPr sz="919">
                <a:solidFill>
                  <a:srgbClr val="5F6E67"/>
                </a:solidFill>
              </a:defRPr>
            </a:pPr>
            <a:r>
              <a:t>• Onboard 50+ verified local dhabas &amp; GI shops</a:t>
            </a:r>
          </a:p>
          <a:p>
            <a:pPr>
              <a:spcAft>
                <a:spcPts val="500"/>
              </a:spcAft>
              <a:defRPr sz="919">
                <a:solidFill>
                  <a:srgbClr val="5F6E67"/>
                </a:solidFill>
              </a:defRPr>
            </a:pPr>
            <a:r>
              <a:t>• Target: 50,000 monthly active yatris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9164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20"/>
            <a:ext cx="2286000" cy="365760"/>
          </a:xfrm>
          <a:prstGeom prst="roundRect">
            <a:avLst/>
          </a:prstGeom>
          <a:solidFill>
            <a:srgbClr val="0B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Q3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3172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B3D33"/>
                </a:solidFill>
                <a:latin typeface="Georgia"/>
              </a:defRPr>
            </a:pPr>
            <a:r>
              <a:t>Phase 3: Institutional Sync</a:t>
            </a:r>
          </a:p>
          <a:p>
            <a:pPr>
              <a:spcAft>
                <a:spcPts val="500"/>
              </a:spcAft>
              <a:defRPr sz="919">
                <a:solidFill>
                  <a:srgbClr val="5F6E67"/>
                </a:solidFill>
              </a:defRPr>
            </a:pPr>
            <a:r>
              <a:t>• Official J&amp;K Tourism Directorate endorsement</a:t>
            </a:r>
          </a:p>
          <a:p>
            <a:pPr>
              <a:spcAft>
                <a:spcPts val="500"/>
              </a:spcAft>
              <a:defRPr sz="919">
                <a:solidFill>
                  <a:srgbClr val="5F6E67"/>
                </a:solidFill>
              </a:defRPr>
            </a:pPr>
            <a:r>
              <a:t>• SMVDSB Katra battery-car &amp; RFID tie-in</a:t>
            </a:r>
          </a:p>
          <a:p>
            <a:pPr>
              <a:spcAft>
                <a:spcPts val="500"/>
              </a:spcAft>
              <a:defRPr sz="919">
                <a:solidFill>
                  <a:srgbClr val="5F6E67"/>
                </a:solidFill>
              </a:defRPr>
            </a:pPr>
            <a:r>
              <a:t>• Northern Railway Yatri Niwas booking cross-links</a:t>
            </a:r>
          </a:p>
          <a:p>
            <a:pPr>
              <a:spcAft>
                <a:spcPts val="500"/>
              </a:spcAft>
              <a:defRPr sz="919">
                <a:solidFill>
                  <a:srgbClr val="5F6E67"/>
                </a:solidFill>
              </a:defRPr>
            </a:pPr>
            <a:r>
              <a:t>• Target: 250,000 active pilgrim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9164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1874520"/>
            <a:ext cx="2286000" cy="365760"/>
          </a:xfrm>
          <a:prstGeom prst="roundRect">
            <a:avLst/>
          </a:prstGeom>
          <a:solidFill>
            <a:srgbClr val="D98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Q4 2027+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33172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B3D33"/>
                </a:solidFill>
                <a:latin typeface="Georgia"/>
              </a:defRPr>
            </a:pPr>
            <a:r>
              <a:t>Phase 4: Ecosystem Scale</a:t>
            </a:r>
          </a:p>
          <a:p>
            <a:pPr>
              <a:spcAft>
                <a:spcPts val="500"/>
              </a:spcAft>
              <a:defRPr sz="919">
                <a:solidFill>
                  <a:srgbClr val="5F6E67"/>
                </a:solidFill>
              </a:defRPr>
            </a:pPr>
            <a:r>
              <a:t>• Expansion to Bhaderwah, Kishtwar, Poonch &amp; Rajouri</a:t>
            </a:r>
          </a:p>
          <a:p>
            <a:pPr>
              <a:spcAft>
                <a:spcPts val="500"/>
              </a:spcAft>
              <a:defRPr sz="919">
                <a:solidFill>
                  <a:srgbClr val="5F6E67"/>
                </a:solidFill>
              </a:defRPr>
            </a:pPr>
            <a:r>
              <a:t>• Audio heritage guides in Dogri, Hindi &amp; English</a:t>
            </a:r>
          </a:p>
          <a:p>
            <a:pPr>
              <a:spcAft>
                <a:spcPts val="500"/>
              </a:spcAft>
              <a:defRPr sz="919">
                <a:solidFill>
                  <a:srgbClr val="5F6E67"/>
                </a:solidFill>
              </a:defRPr>
            </a:pPr>
            <a:r>
              <a:t>• Open-source blueprint for Varanasi &amp; Tirupati</a:t>
            </a:r>
          </a:p>
          <a:p>
            <a:pPr>
              <a:spcAft>
                <a:spcPts val="500"/>
              </a:spcAft>
              <a:defRPr sz="919">
                <a:solidFill>
                  <a:srgbClr val="5F6E67"/>
                </a:solidFill>
              </a:defRPr>
            </a:pPr>
            <a:r>
              <a:t>• Self-sustaining civic non-commission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7"/>
                </a:solidFill>
                <a:latin typeface="Arial"/>
              </a:defRPr>
            </a:pPr>
            <a:r>
              <a:t>JammuKhoj • Smart Tourism &amp; Pilgrim Companion • Live Demo: https://bucolic-buttercream-966135.netlify.app/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A84D0E"/>
                </a:solidFill>
                <a:latin typeface="Arial"/>
              </a:defRPr>
            </a:pPr>
            <a:r>
              <a:t>09 • TRUST &amp;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B3D33"/>
                </a:solidFill>
                <a:latin typeface="Georgia"/>
              </a:defRPr>
            </a:pPr>
            <a:r>
              <a:t>Civic Integrity, Zero-Surveillance Privacy &amp; Low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F6E67"/>
                </a:solidFill>
                <a:latin typeface="Arial"/>
              </a:defRPr>
            </a:pPr>
            <a:r>
              <a:t>Built to protect user privacy and operate sustainably without predatory data monetization.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50489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3139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B3D33"/>
                </a:solidFill>
                <a:latin typeface="Georgia"/>
              </a:defRPr>
            </a:pPr>
            <a:r>
              <a:t>🔒 Zero-Surveillance Privacy</a:t>
            </a:r>
          </a:p>
          <a:p>
            <a:pPr>
              <a:spcAft>
                <a:spcPts val="1000"/>
              </a:spcAft>
              <a:defRPr sz="1000" b="1">
                <a:solidFill>
                  <a:srgbClr val="A84D0E"/>
                </a:solidFill>
              </a:defRPr>
            </a:pPr>
            <a:r>
              <a:t>Google Play &amp; Privacy Act Compliant</a:t>
            </a:r>
          </a:p>
          <a:p>
            <a:pPr>
              <a:spcAft>
                <a:spcPts val="600"/>
              </a:spcAft>
              <a:defRPr sz="950">
                <a:solidFill>
                  <a:srgbClr val="5F6E67"/>
                </a:solidFill>
              </a:defRPr>
            </a:pPr>
            <a:r>
              <a:t>• 100% of user data, bookmarks, and custom plans remain strictly on-device in IndexedDB.</a:t>
            </a:r>
          </a:p>
          <a:p>
            <a:pPr>
              <a:spcAft>
                <a:spcPts val="600"/>
              </a:spcAft>
              <a:defRPr sz="950">
                <a:solidFill>
                  <a:srgbClr val="5F6E67"/>
                </a:solidFill>
              </a:defRPr>
            </a:pPr>
            <a:r>
              <a:t>• Zero tracking cookies, zero third-party telemetry, zero location data monetization.</a:t>
            </a:r>
          </a:p>
          <a:p>
            <a:pPr>
              <a:spcAft>
                <a:spcPts val="600"/>
              </a:spcAft>
              <a:defRPr sz="950">
                <a:solidFill>
                  <a:srgbClr val="5F6E67"/>
                </a:solidFill>
              </a:defRPr>
            </a:pPr>
            <a:r>
              <a:t>• Zero mandatory registration barrier: full functionality available to guests.</a:t>
            </a:r>
          </a:p>
          <a:p>
            <a:pPr>
              <a:spcAft>
                <a:spcPts val="600"/>
              </a:spcAft>
              <a:defRPr sz="950">
                <a:solidFill>
                  <a:srgbClr val="5F6E67"/>
                </a:solidFill>
              </a:defRPr>
            </a:pPr>
            <a:r>
              <a:t>• 1-Tap permanent account &amp; local storage wipe button directly in Settings.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50489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74520"/>
            <a:ext cx="3139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B3D33"/>
                </a:solidFill>
                <a:latin typeface="Georgia"/>
              </a:defRPr>
            </a:pPr>
            <a:r>
              <a:t>🌱 Ultra-Low Resource Footprint</a:t>
            </a:r>
          </a:p>
          <a:p>
            <a:pPr>
              <a:spcAft>
                <a:spcPts val="1000"/>
              </a:spcAft>
              <a:defRPr sz="1000" b="1">
                <a:solidFill>
                  <a:srgbClr val="A84D0E"/>
                </a:solidFill>
              </a:defRPr>
            </a:pPr>
            <a:r>
              <a:t>Engineered for Mountain Transit</a:t>
            </a:r>
          </a:p>
          <a:p>
            <a:pPr>
              <a:spcAft>
                <a:spcPts val="600"/>
              </a:spcAft>
              <a:defRPr sz="950">
                <a:solidFill>
                  <a:srgbClr val="5F6E67"/>
                </a:solidFill>
              </a:defRPr>
            </a:pPr>
            <a:r>
              <a:t>• Lightweight 5.5 MB APK and &lt;2 MB compressed web bundle.</a:t>
            </a:r>
          </a:p>
          <a:p>
            <a:pPr>
              <a:spcAft>
                <a:spcPts val="600"/>
              </a:spcAft>
              <a:defRPr sz="950">
                <a:solidFill>
                  <a:srgbClr val="5F6E67"/>
                </a:solidFill>
              </a:defRPr>
            </a:pPr>
            <a:r>
              <a:t>• Runs smoothly on budget ₹6,000 Android phones without thermal throttling.</a:t>
            </a:r>
          </a:p>
          <a:p>
            <a:pPr>
              <a:spcAft>
                <a:spcPts val="600"/>
              </a:spcAft>
              <a:defRPr sz="950">
                <a:solidFill>
                  <a:srgbClr val="5F6E67"/>
                </a:solidFill>
              </a:defRPr>
            </a:pPr>
            <a:r>
              <a:t>• Offline-first vector maps consume zero background cellular data.</a:t>
            </a:r>
          </a:p>
          <a:p>
            <a:pPr>
              <a:spcAft>
                <a:spcPts val="600"/>
              </a:spcAft>
              <a:defRPr sz="950">
                <a:solidFill>
                  <a:srgbClr val="5F6E67"/>
                </a:solidFill>
              </a:defRPr>
            </a:pPr>
            <a:r>
              <a:t>• OLED-friendly dark mode and high-contrast WCAG 2.1 AA modes conserve traveler battery.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91640"/>
            <a:ext cx="350489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74520"/>
            <a:ext cx="3139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B3D33"/>
                </a:solidFill>
                <a:latin typeface="Georgia"/>
              </a:defRPr>
            </a:pPr>
            <a:r>
              <a:t>🤝 Sustainable Civic Model</a:t>
            </a:r>
          </a:p>
          <a:p>
            <a:pPr>
              <a:spcAft>
                <a:spcPts val="1000"/>
              </a:spcAft>
              <a:defRPr sz="1000" b="1">
                <a:solidFill>
                  <a:srgbClr val="A84D0E"/>
                </a:solidFill>
              </a:defRPr>
            </a:pPr>
            <a:r>
              <a:t>Public Benefit, Non-Commission</a:t>
            </a:r>
          </a:p>
          <a:p>
            <a:pPr>
              <a:spcAft>
                <a:spcPts val="600"/>
              </a:spcAft>
              <a:defRPr sz="950">
                <a:solidFill>
                  <a:srgbClr val="5F6E67"/>
                </a:solidFill>
              </a:defRPr>
            </a:pPr>
            <a:r>
              <a:t>• Non-commission directory preventing price inflation for travelers.</a:t>
            </a:r>
          </a:p>
          <a:p>
            <a:pPr>
              <a:spcAft>
                <a:spcPts val="600"/>
              </a:spcAft>
              <a:defRPr sz="950">
                <a:solidFill>
                  <a:srgbClr val="5F6E67"/>
                </a:solidFill>
              </a:defRPr>
            </a:pPr>
            <a:r>
              <a:t>• Verified artisan and homestay listings supported by J&amp;K Tourism development authorities.</a:t>
            </a:r>
          </a:p>
          <a:p>
            <a:pPr>
              <a:spcAft>
                <a:spcPts val="600"/>
              </a:spcAft>
              <a:defRPr sz="950">
                <a:solidFill>
                  <a:srgbClr val="5F6E67"/>
                </a:solidFill>
              </a:defRPr>
            </a:pPr>
            <a:r>
              <a:t>• Open-source data structures contributing back to OpenStreetMap and civic archives.</a:t>
            </a:r>
          </a:p>
          <a:p>
            <a:pPr>
              <a:spcAft>
                <a:spcPts val="600"/>
              </a:spcAft>
              <a:defRPr sz="950">
                <a:solidFill>
                  <a:srgbClr val="5F6E67"/>
                </a:solidFill>
              </a:defRPr>
            </a:pPr>
            <a:r>
              <a:t>• Scalable cloud architecture hosted efficiently with negligible monthly operational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7"/>
                </a:solidFill>
                <a:latin typeface="Arial"/>
              </a:defRPr>
            </a:pPr>
            <a:r>
              <a:t>JammuKhoj • Smart Tourism &amp; Pilgrim Companion • Live Demo: https://bucolic-buttercream-966135.netlify.app/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10911535" cy="5760720"/>
          </a:xfrm>
          <a:prstGeom prst="roundRect">
            <a:avLst/>
          </a:prstGeom>
          <a:solidFill>
            <a:srgbClr val="07241E"/>
          </a:solidFill>
          <a:ln w="19050">
            <a:solidFill>
              <a:srgbClr val="D98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8210"/>
                </a:solidFill>
              </a:defRPr>
            </a:pPr>
            <a:r>
              <a:t>CLOSING PITCH • PILOT CALL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Partner with Us to Transform Jammu Tourism</a:t>
            </a:r>
          </a:p>
          <a:p>
            <a:pPr>
              <a:defRPr sz="1400">
                <a:solidFill>
                  <a:srgbClr val="D98210"/>
                </a:solidFill>
              </a:defRPr>
            </a:pPr>
            <a:r>
              <a:t>Turn a hurried 2-hour transit rush into an enriching, safe cultural gateway for 10 million yatris.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423160"/>
            <a:ext cx="3154680" cy="2194560"/>
          </a:xfrm>
          <a:prstGeom prst="roundRect">
            <a:avLst/>
          </a:prstGeom>
          <a:solidFill>
            <a:srgbClr val="0B3D33"/>
          </a:solidFill>
          <a:ln w="12700">
            <a:solidFill>
              <a:srgbClr val="D98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56032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8210"/>
                </a:solidFill>
                <a:latin typeface="Georgia"/>
              </a:defRPr>
            </a:pPr>
            <a:r>
              <a:t>1. Transit Signage Pilot</a:t>
            </a:r>
          </a:p>
          <a:p>
            <a:pPr>
              <a:defRPr sz="980">
                <a:solidFill>
                  <a:srgbClr val="FFFFFF"/>
                </a:solidFill>
                <a:latin typeface="Arial"/>
              </a:defRPr>
            </a:pPr>
            <a:r>
              <a:t>Permission for QR code info panels at Jammu Tawi (JAT) and SVDK Katra station concourses to give yatris instant offline guide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423160"/>
            <a:ext cx="3154680" cy="2194560"/>
          </a:xfrm>
          <a:prstGeom prst="roundRect">
            <a:avLst/>
          </a:prstGeom>
          <a:solidFill>
            <a:srgbClr val="0B3D33"/>
          </a:solidFill>
          <a:ln w="12700">
            <a:solidFill>
              <a:srgbClr val="D98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56032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8210"/>
                </a:solidFill>
                <a:latin typeface="Georgia"/>
              </a:defRPr>
            </a:pPr>
            <a:r>
              <a:t>2. Tourism Dept Data Link</a:t>
            </a:r>
          </a:p>
          <a:p>
            <a:pPr>
              <a:defRPr sz="980">
                <a:solidFill>
                  <a:srgbClr val="FFFFFF"/>
                </a:solidFill>
                <a:latin typeface="Arial"/>
              </a:defRPr>
            </a:pPr>
            <a:r>
              <a:t>Official co-branding and verification link with Directorate of Tourism, Jammu (TRC) to keep fare tables and festival schedules authoritative.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423160"/>
            <a:ext cx="3154680" cy="2194560"/>
          </a:xfrm>
          <a:prstGeom prst="roundRect">
            <a:avLst/>
          </a:prstGeom>
          <a:solidFill>
            <a:srgbClr val="0B3D33"/>
          </a:solidFill>
          <a:ln w="12700">
            <a:solidFill>
              <a:srgbClr val="D98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56032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8210"/>
                </a:solidFill>
                <a:latin typeface="Georgia"/>
              </a:defRPr>
            </a:pPr>
            <a:r>
              <a:t>3. Shrine Board Sync</a:t>
            </a:r>
          </a:p>
          <a:p>
            <a:pPr>
              <a:defRPr sz="980">
                <a:solidFill>
                  <a:srgbClr val="FFFFFF"/>
                </a:solidFill>
                <a:latin typeface="Arial"/>
              </a:defRPr>
            </a:pPr>
            <a:r>
              <a:t>Collaboration with SMVDSB Katra to integrate battery-car status, aarti timings, and emergency medical aid coordinates.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0060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🌐 Live Demo: https://bucolic-buttercream-966135.netlify.app/   •   🌍 Domain: https://jammukhoj.in</a:t>
            </a:r>
          </a:p>
          <a:p>
            <a:pPr algn="ctr">
              <a:defRPr sz="1050">
                <a:solidFill>
                  <a:srgbClr val="D98210"/>
                </a:solidFill>
              </a:defRPr>
            </a:pPr>
            <a:r>
              <a:t>Open Source • 100% Offline Progressive Web App &amp; Android Ready • Contact: support@jammukhoj.in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