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5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23E3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Arial"/>
              </a:defRPr>
            </a:pPr>
            <a:r>
              <a:t>OFFLINE-FIRST CIVIC TRAVEL INNOVATION • JAMMU DIVISION &amp; VAISHNO DEVI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601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Georgia"/>
              </a:defRPr>
            </a:pPr>
            <a:r>
              <a:t>JammuKhoj</a:t>
            </a:r>
          </a:p>
          <a:p>
            <a:pPr>
              <a:defRPr sz="2000">
                <a:solidFill>
                  <a:srgbClr val="D97706"/>
                </a:solidFill>
                <a:latin typeface="Arial"/>
              </a:defRPr>
            </a:pPr>
            <a:r>
              <a:t>जम्मू खोज • Your Jammu Journey, Made Simple.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9601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  <a:latin typeface="Arial"/>
              </a:defRPr>
            </a:pPr>
            <a:r>
              <a:t>A smart, privacy-centric tourism and pilgrimage companion engineered for visitors, transit layovers, and Mata Vaishno Devi pilgrims across the Jammu Division. 100% offline-ready with conservative train/flight safety buffers, transparent transport benchmarks, and verified civic assistance.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4297680"/>
            <a:ext cx="2286000" cy="1371600"/>
          </a:xfrm>
          <a:prstGeom prst="roundRect">
            <a:avLst/>
          </a:prstGeom>
          <a:solidFill>
            <a:srgbClr val="085444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438912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D97706"/>
                </a:solidFill>
                <a:latin typeface="Georgia"/>
              </a:defRPr>
            </a:pPr>
            <a:r>
              <a:t>⚡ 1-Tap Buffer-Safe Planner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Express 4h, 8h &amp; 24h circuits preserving departure safety buffers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4297680"/>
            <a:ext cx="2286000" cy="1371600"/>
          </a:xfrm>
          <a:prstGeom prst="roundRect">
            <a:avLst/>
          </a:prstGeom>
          <a:solidFill>
            <a:srgbClr val="085444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438912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D97706"/>
                </a:solidFill>
                <a:latin typeface="Georgia"/>
              </a:defRPr>
            </a:pPr>
            <a:r>
              <a:t>📶 100% Offline IndexedDB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Complete on-device vector maps, guides &amp; emergency dialer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297680"/>
            <a:ext cx="2286000" cy="1371600"/>
          </a:xfrm>
          <a:prstGeom prst="roundRect">
            <a:avLst/>
          </a:prstGeom>
          <a:solidFill>
            <a:srgbClr val="085444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438912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D97706"/>
                </a:solidFill>
                <a:latin typeface="Georgia"/>
              </a:defRPr>
            </a:pPr>
            <a:r>
              <a:t>🚌 Transparent Transit Matrix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Surveyed fares for Matadors (₹10-25), Autos &amp; Prepaid Taxis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4297680"/>
            <a:ext cx="2286000" cy="1371600"/>
          </a:xfrm>
          <a:prstGeom prst="roundRect">
            <a:avLst/>
          </a:prstGeom>
          <a:solidFill>
            <a:srgbClr val="085444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438912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D97706"/>
                </a:solidFill>
                <a:latin typeface="Georgia"/>
              </a:defRPr>
            </a:pPr>
            <a:r>
              <a:t>🧓 Senior &amp; Pilgrim Ease Mode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Step-free routing, battery cars, wheelchairs &amp; ERSS 112 SOS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E4A0C"/>
                </a:solidFill>
                <a:latin typeface="Arial"/>
              </a:defRPr>
            </a:pPr>
            <a:r>
              <a:t>02 |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85444"/>
                </a:solidFill>
                <a:latin typeface="Georgia"/>
              </a:defRPr>
            </a:pPr>
            <a:r>
              <a:t>The Transit Anxiety &amp; Information Vacuum in Jammu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6C"/>
                </a:solidFill>
                <a:latin typeface="Arial"/>
              </a:defRPr>
            </a:pPr>
            <a:r>
              <a:t>Why millions of pilgrims pass through Jammu with friction, fear, and zero local discovery.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4290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9E4A0C"/>
                </a:solidFill>
                <a:latin typeface="Georgia"/>
              </a:defRPr>
            </a:pPr>
            <a:r>
              <a:t>🚨 Transit Anxiety &amp; Time Fear</a:t>
            </a:r>
          </a:p>
          <a:p>
            <a:pPr>
              <a:spcAft>
                <a:spcPts val="1200"/>
              </a:spcAft>
              <a:defRPr sz="1100" b="1">
                <a:solidFill>
                  <a:srgbClr val="1C2923"/>
                </a:solidFill>
                <a:latin typeface="Arial"/>
              </a:defRPr>
            </a:pPr>
            <a:r>
              <a:t>Fear of Missing Onward Trains / Flights</a:t>
            </a:r>
          </a:p>
          <a:p>
            <a:pPr>
              <a:spcAft>
                <a:spcPts val="800"/>
              </a:spcAft>
              <a:defRPr sz="1100">
                <a:solidFill>
                  <a:srgbClr val="64746C"/>
                </a:solidFill>
                <a:latin typeface="Arial"/>
              </a:defRPr>
            </a:pPr>
            <a:r>
              <a:t>•  Pilgrims face 4 to 12 hour layovers at Jammu Tawi or Airport.</a:t>
            </a:r>
          </a:p>
          <a:p>
            <a:pPr>
              <a:spcAft>
                <a:spcPts val="800"/>
              </a:spcAft>
              <a:defRPr sz="1100">
                <a:solidFill>
                  <a:srgbClr val="64746C"/>
                </a:solidFill>
                <a:latin typeface="Arial"/>
              </a:defRPr>
            </a:pPr>
            <a:r>
              <a:t>•  Fear of getting stuck in traffic traps pilgrims at station platforms.</a:t>
            </a:r>
          </a:p>
          <a:p>
            <a:pPr>
              <a:spcAft>
                <a:spcPts val="800"/>
              </a:spcAft>
              <a:defRPr sz="1100">
                <a:solidFill>
                  <a:srgbClr val="64746C"/>
                </a:solidFill>
                <a:latin typeface="Arial"/>
              </a:defRPr>
            </a:pPr>
            <a:r>
              <a:t>•  No existing map tool calculates conservative safety return buffers.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37360"/>
            <a:ext cx="34290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9E4A0C"/>
                </a:solidFill>
                <a:latin typeface="Georgia"/>
              </a:defRPr>
            </a:pPr>
            <a:r>
              <a:t>💸 Transport Gouging &amp; Haggling</a:t>
            </a:r>
          </a:p>
          <a:p>
            <a:pPr>
              <a:spcAft>
                <a:spcPts val="1200"/>
              </a:spcAft>
              <a:defRPr sz="1100" b="1">
                <a:solidFill>
                  <a:srgbClr val="1C2923"/>
                </a:solidFill>
                <a:latin typeface="Arial"/>
              </a:defRPr>
            </a:pPr>
            <a:r>
              <a:t>Unregulated Fares &amp; Commuter Harassment</a:t>
            </a:r>
          </a:p>
          <a:p>
            <a:pPr>
              <a:spcAft>
                <a:spcPts val="800"/>
              </a:spcAft>
              <a:defRPr sz="1100">
                <a:solidFill>
                  <a:srgbClr val="64746C"/>
                </a:solidFill>
                <a:latin typeface="Arial"/>
              </a:defRPr>
            </a:pPr>
            <a:r>
              <a:t>•  Unsuspecting travelers charged ₹800–₹1,500 for a ₹150 taxi ride.</a:t>
            </a:r>
          </a:p>
          <a:p>
            <a:pPr>
              <a:spcAft>
                <a:spcPts val="800"/>
              </a:spcAft>
              <a:defRPr sz="1100">
                <a:solidFill>
                  <a:srgbClr val="64746C"/>
                </a:solidFill>
                <a:latin typeface="Arial"/>
              </a:defRPr>
            </a:pPr>
            <a:r>
              <a:t>•  Matador mini-bus routes and stage tariffs are opaque to outsiders.</a:t>
            </a:r>
          </a:p>
          <a:p>
            <a:pPr>
              <a:spcAft>
                <a:spcPts val="800"/>
              </a:spcAft>
              <a:defRPr sz="1100">
                <a:solidFill>
                  <a:srgbClr val="64746C"/>
                </a:solidFill>
                <a:latin typeface="Arial"/>
              </a:defRPr>
            </a:pPr>
            <a:r>
              <a:t>•  Zero transparency on official prepaid union rates.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737360"/>
            <a:ext cx="34290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9E4A0C"/>
                </a:solidFill>
                <a:latin typeface="Georgia"/>
              </a:defRPr>
            </a:pPr>
            <a:r>
              <a:t>📴 Cellular Blackouts &amp; Accessibility</a:t>
            </a:r>
          </a:p>
          <a:p>
            <a:pPr>
              <a:spcAft>
                <a:spcPts val="1200"/>
              </a:spcAft>
              <a:defRPr sz="1100" b="1">
                <a:solidFill>
                  <a:srgbClr val="1C2923"/>
                </a:solidFill>
                <a:latin typeface="Arial"/>
              </a:defRPr>
            </a:pPr>
            <a:r>
              <a:t>Mountain Dead Zones &amp; Elder Strain</a:t>
            </a:r>
          </a:p>
          <a:p>
            <a:pPr>
              <a:spcAft>
                <a:spcPts val="800"/>
              </a:spcAft>
              <a:defRPr sz="1100">
                <a:solidFill>
                  <a:srgbClr val="64746C"/>
                </a:solidFill>
                <a:latin typeface="Arial"/>
              </a:defRPr>
            </a:pPr>
            <a:r>
              <a:t>•  Cloud-based apps crash in mountain valleys and tunnel corridors.</a:t>
            </a:r>
          </a:p>
          <a:p>
            <a:pPr>
              <a:spcAft>
                <a:spcPts val="800"/>
              </a:spcAft>
              <a:defRPr sz="1100">
                <a:solidFill>
                  <a:srgbClr val="64746C"/>
                </a:solidFill>
                <a:latin typeface="Arial"/>
              </a:defRPr>
            </a:pPr>
            <a:r>
              <a:t>•  Elderly pilgrims lack verified walking load, stair counts, and battery car tips.</a:t>
            </a:r>
          </a:p>
          <a:p>
            <a:pPr>
              <a:spcAft>
                <a:spcPts val="800"/>
              </a:spcAft>
              <a:defRPr sz="1100">
                <a:solidFill>
                  <a:srgbClr val="64746C"/>
                </a:solidFill>
                <a:latin typeface="Arial"/>
              </a:defRPr>
            </a:pPr>
            <a:r>
              <a:t>•  Safety hotlines and ERSS 112 are hard to locate during distress.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6C"/>
                </a:solidFill>
                <a:latin typeface="Arial"/>
              </a:defRPr>
            </a:pPr>
            <a:r>
              <a:t>JammuKhoj • Smart Tourism &amp; Pilgrim Companion • https://jammukhoj.in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E4A0C"/>
                </a:solidFill>
                <a:latin typeface="Arial"/>
              </a:defRPr>
            </a:pPr>
            <a:r>
              <a:t>03 | ECONOMIC &amp; CULTURAL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85444"/>
                </a:solidFill>
                <a:latin typeface="Georgia"/>
              </a:defRPr>
            </a:pPr>
            <a:r>
              <a:t>The 10-Million Pilgrim Paradox: Direct Transit Bypass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6C"/>
                </a:solidFill>
                <a:latin typeface="Arial"/>
              </a:defRPr>
            </a:pPr>
            <a:r>
              <a:t>Immense visitor footfall that completely bypasses Jammu's cultural and economic ecosystem.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4114800" cy="4297680"/>
          </a:xfrm>
          <a:prstGeom prst="roundRect">
            <a:avLst/>
          </a:prstGeom>
          <a:solidFill>
            <a:srgbClr val="085444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D97706"/>
                </a:solidFill>
                <a:latin typeface="Georgia"/>
              </a:defRPr>
            </a:pPr>
            <a:r>
              <a:t>10,000,000+</a:t>
            </a:r>
          </a:p>
          <a:p>
            <a:pPr>
              <a:spcAft>
                <a:spcPts val="2000"/>
              </a:spcAft>
              <a:defRPr sz="1300">
                <a:solidFill>
                  <a:srgbClr val="FFFFFF"/>
                </a:solidFill>
              </a:defRPr>
            </a:pPr>
            <a:r>
              <a:t>Annual pilgrims transit through Jammu Tawi &amp; Katra to reach Shri Mata Vaishno Devi Shrine.</a:t>
            </a:r>
          </a:p>
          <a:p>
            <a:pPr>
              <a:defRPr sz="1800" b="1">
                <a:solidFill>
                  <a:srgbClr val="D97706"/>
                </a:solidFill>
                <a:latin typeface="Georgia"/>
              </a:defRPr>
            </a:pPr>
            <a:r>
              <a:t>&lt; 2 Hours Average Dwell Time</a:t>
            </a:r>
          </a:p>
          <a:p>
            <a:pPr>
              <a:defRPr sz="1250">
                <a:solidFill>
                  <a:srgbClr val="FFFFFF"/>
                </a:solidFill>
              </a:defRPr>
            </a:pPr>
            <a:r>
              <a:t>Over 85% of yatris treat Jammu as a mere train-to-bus transit hallway, unaware of rich Dogra heritage minutes away.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737360"/>
            <a:ext cx="630936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0" y="1920240"/>
            <a:ext cx="5943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85444"/>
                </a:solidFill>
                <a:latin typeface="Georgia"/>
              </a:defRPr>
            </a:pPr>
            <a:r>
              <a:t>Three Costly Gaps in Jammu Tourism</a:t>
            </a:r>
          </a:p>
          <a:p>
            <a:pPr>
              <a:defRPr sz="1250" b="1">
                <a:solidFill>
                  <a:srgbClr val="9E4A0C"/>
                </a:solidFill>
              </a:defRPr>
            </a:pPr>
            <a:r>
              <a:t>🏛️ Heritage Neglect</a:t>
            </a:r>
          </a:p>
          <a:p>
            <a:pPr>
              <a:spcAft>
                <a:spcPts val="800"/>
              </a:spcAft>
              <a:defRPr sz="1100">
                <a:solidFill>
                  <a:srgbClr val="64746C"/>
                </a:solidFill>
              </a:defRPr>
            </a:pPr>
            <a:r>
              <a:t>World-class monuments like Mubarak Mandi Palace, Bahu Fort (3000 yrs old), and Amar Mahal witness only a fraction of their potential footfall.</a:t>
            </a:r>
          </a:p>
          <a:p>
            <a:pPr>
              <a:defRPr sz="1250" b="1">
                <a:solidFill>
                  <a:srgbClr val="9E4A0C"/>
                </a:solidFill>
              </a:defRPr>
            </a:pPr>
            <a:r>
              <a:t>🛍️ GI Craft Exploitation</a:t>
            </a:r>
          </a:p>
          <a:p>
            <a:pPr>
              <a:spcAft>
                <a:spcPts val="800"/>
              </a:spcAft>
              <a:defRPr sz="1100">
                <a:solidFill>
                  <a:srgbClr val="64746C"/>
                </a:solidFill>
              </a:defRPr>
            </a:pPr>
            <a:r>
              <a:t>Authentic Dogra crafts (Basohli Paintings, Pashmina, Basohli Tweed, Bhaderwah Rajmash) lose sales to roadside counterfeits with no verified seller guidance.</a:t>
            </a:r>
          </a:p>
          <a:p>
            <a:pPr>
              <a:defRPr sz="1250" b="1">
                <a:solidFill>
                  <a:srgbClr val="9E4A0C"/>
                </a:solidFill>
              </a:defRPr>
            </a:pPr>
            <a:r>
              <a:t>🍲 Forgotten Culinary Economy</a:t>
            </a:r>
          </a:p>
          <a:p>
            <a:pPr>
              <a:spcAft>
                <a:spcPts val="800"/>
              </a:spcAft>
              <a:defRPr sz="1100">
                <a:solidFill>
                  <a:srgbClr val="64746C"/>
                </a:solidFill>
              </a:defRPr>
            </a:pPr>
            <a:r>
              <a:t>Indigenous nutritious Dogra delicacies (Kaladi Kulcha, Dogra Dham, Sund Panjeeri) lose out to generic fast-food stalls.</a:t>
            </a:r>
          </a:p>
          <a:p>
            <a:pPr>
              <a:defRPr sz="1250" b="1">
                <a:solidFill>
                  <a:srgbClr val="9E4A0C"/>
                </a:solidFill>
              </a:defRPr>
            </a:pPr>
            <a:r>
              <a:t>📉 Lost Municipal Revenue</a:t>
            </a:r>
          </a:p>
          <a:p>
            <a:pPr>
              <a:spcAft>
                <a:spcPts val="800"/>
              </a:spcAft>
              <a:defRPr sz="1100">
                <a:solidFill>
                  <a:srgbClr val="64746C"/>
                </a:solidFill>
              </a:defRPr>
            </a:pPr>
            <a:r>
              <a:t>Estimates show Jammu City loses over ₹300 Crores annually in potential local hospitality, craft, and transportation income.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6C"/>
                </a:solidFill>
                <a:latin typeface="Arial"/>
              </a:defRPr>
            </a:pPr>
            <a:r>
              <a:t>JammuKhoj • Smart Tourism &amp; Pilgrim Companion • https://jammukhoj.in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E4A0C"/>
                </a:solidFill>
                <a:latin typeface="Arial"/>
              </a:defRPr>
            </a:pPr>
            <a:r>
              <a:t>04 | THE 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85444"/>
                </a:solidFill>
                <a:latin typeface="Georgia"/>
              </a:defRPr>
            </a:pPr>
            <a:r>
              <a:t>JammuKhoj: An Intelligent, Resilient Local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6C"/>
                </a:solidFill>
                <a:latin typeface="Arial"/>
              </a:defRPr>
            </a:pPr>
            <a:r>
              <a:t>A human-centered progressive application tailored for zero-data environments and time-critical pilgrims.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578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8006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85444"/>
                </a:solidFill>
                <a:latin typeface="Georgia"/>
              </a:defRPr>
            </a:pPr>
            <a:r>
              <a:t>⚡ 1-Tap Circuit Engine</a:t>
            </a:r>
          </a:p>
          <a:p>
            <a:pPr>
              <a:defRPr sz="1150">
                <a:solidFill>
                  <a:srgbClr val="64746C"/>
                </a:solidFill>
                <a:latin typeface="Arial"/>
              </a:defRPr>
            </a:pPr>
            <a:r>
              <a:t>Deterministic, buffer-safe itinerary generator that plans realistic circuits tailored to user's exact available layover (4h, 8h, 24h) with guaranteed station return buffers (45m rail / 150m air).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37360"/>
            <a:ext cx="52578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8006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85444"/>
                </a:solidFill>
                <a:latin typeface="Georgia"/>
              </a:defRPr>
            </a:pPr>
            <a:r>
              <a:t>📶 100% Offline Vector Stack</a:t>
            </a:r>
          </a:p>
          <a:p>
            <a:pPr>
              <a:defRPr sz="1150">
                <a:solidFill>
                  <a:srgbClr val="64746C"/>
                </a:solidFill>
                <a:latin typeface="Arial"/>
              </a:defRPr>
            </a:pPr>
            <a:r>
              <a:t>Entire knowledge graph (36+ attractions, road topologies, timetables, dialer hotlines) bundled in local IndexedDB. Zero cloud telemetry dependency.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52578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160519"/>
            <a:ext cx="48006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85444"/>
                </a:solidFill>
                <a:latin typeface="Georgia"/>
              </a:defRPr>
            </a:pPr>
            <a:r>
              <a:t>🚌 Transparent Transit Intelligence</a:t>
            </a:r>
          </a:p>
          <a:p>
            <a:pPr>
              <a:defRPr sz="1150">
                <a:solidFill>
                  <a:srgbClr val="64746C"/>
                </a:solidFill>
                <a:latin typeface="Arial"/>
              </a:defRPr>
            </a:pPr>
            <a:r>
              <a:t>Verified stage-by-stage Matador mini-bus routes, Smart City E-bus stops, and prepaid union matrices for auto-rickshaws and taxis to end passenger overcharging.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977639"/>
            <a:ext cx="52578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160519"/>
            <a:ext cx="48006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85444"/>
                </a:solidFill>
                <a:latin typeface="Georgia"/>
              </a:defRPr>
            </a:pPr>
            <a:r>
              <a:t>🧓 Senior &amp; Accessibility First</a:t>
            </a:r>
          </a:p>
          <a:p>
            <a:pPr>
              <a:defRPr sz="1150">
                <a:solidFill>
                  <a:srgbClr val="64746C"/>
                </a:solidFill>
                <a:latin typeface="Arial"/>
              </a:defRPr>
            </a:pPr>
            <a:r>
              <a:t>Dedicated walking-load ratings (Low/Med/High), wheelchair step-free indicators, SMVDSB battery car guidance, and WCAG 2.1 AA senior contrast modes.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6C"/>
                </a:solidFill>
                <a:latin typeface="Arial"/>
              </a:defRPr>
            </a:pPr>
            <a:r>
              <a:t>JammuKhoj • Smart Tourism &amp; Pilgrim Companion • https://jammukhoj.in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E4A0C"/>
                </a:solidFill>
                <a:latin typeface="Arial"/>
              </a:defRPr>
            </a:pPr>
            <a:r>
              <a:t>05 | SEAMLESS USER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85444"/>
                </a:solidFill>
                <a:latin typeface="Georgia"/>
              </a:defRPr>
            </a:pPr>
            <a:r>
              <a:t>From Station Arrival to Holy Darshan in 5 Frictionless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6C"/>
                </a:solidFill>
                <a:latin typeface="Arial"/>
              </a:defRPr>
            </a:pPr>
            <a:r>
              <a:t>Designed for immediate value without forced registration, heavy downloads, or steep learning curves.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0574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920240"/>
            <a:ext cx="1691640" cy="411480"/>
          </a:xfrm>
          <a:prstGeom prst="roundRect">
            <a:avLst/>
          </a:prstGeom>
          <a:solidFill>
            <a:srgbClr val="9E4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68880"/>
            <a:ext cx="1783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85444"/>
                </a:solidFill>
                <a:latin typeface="Georgia"/>
              </a:defRPr>
            </a:pPr>
            <a:r>
              <a:t>1. Arrival</a:t>
            </a:r>
          </a:p>
          <a:p>
            <a:pPr>
              <a:defRPr sz="1050">
                <a:solidFill>
                  <a:srgbClr val="64746C"/>
                </a:solidFill>
                <a:latin typeface="Arial"/>
              </a:defRPr>
            </a:pPr>
            <a:r>
              <a:t>Arrives at Jammu Tawi (JAT) or Airport. Scans QR code or opens jammukhoj.in directly in browser or PWA. Zero mandatory login barrier.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1737360"/>
            <a:ext cx="20574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81528" y="1920240"/>
            <a:ext cx="1691640" cy="411480"/>
          </a:xfrm>
          <a:prstGeom prst="roundRect">
            <a:avLst/>
          </a:prstGeom>
          <a:solidFill>
            <a:srgbClr val="9E4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5808" y="2468880"/>
            <a:ext cx="1783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85444"/>
                </a:solidFill>
                <a:latin typeface="Georgia"/>
              </a:defRPr>
            </a:pPr>
            <a:r>
              <a:t>2. 1-Tap Plan</a:t>
            </a:r>
          </a:p>
          <a:p>
            <a:pPr>
              <a:defRPr sz="1050">
                <a:solidFill>
                  <a:srgbClr val="64746C"/>
                </a:solidFill>
                <a:latin typeface="Arial"/>
              </a:defRPr>
            </a:pPr>
            <a:r>
              <a:t>Selects available window: '4-Hour Express' from station. App automatically reserves 45-min return buffer and computes a 2.5 hr curated circuit.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65776" y="1737360"/>
            <a:ext cx="20574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48656" y="1920240"/>
            <a:ext cx="1691640" cy="411480"/>
          </a:xfrm>
          <a:prstGeom prst="roundRect">
            <a:avLst/>
          </a:prstGeom>
          <a:solidFill>
            <a:srgbClr val="9E4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STEP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02936" y="2468880"/>
            <a:ext cx="1783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85444"/>
                </a:solidFill>
                <a:latin typeface="Georgia"/>
              </a:defRPr>
            </a:pPr>
            <a:r>
              <a:t>3. Fair Transit</a:t>
            </a:r>
          </a:p>
          <a:p>
            <a:pPr>
              <a:defRPr sz="1050">
                <a:solidFill>
                  <a:srgbClr val="64746C"/>
                </a:solidFill>
                <a:latin typeface="Arial"/>
              </a:defRPr>
            </a:pPr>
            <a:r>
              <a:t>Checks Matador Route #1 to Raghunath Bazaar. Pays exact ₹15 fare; avoids cab touts quoting ₹400 for the same distance.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32904" y="1737360"/>
            <a:ext cx="20574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15784" y="1920240"/>
            <a:ext cx="1691640" cy="411480"/>
          </a:xfrm>
          <a:prstGeom prst="roundRect">
            <a:avLst/>
          </a:prstGeom>
          <a:solidFill>
            <a:srgbClr val="9E4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STEP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0064" y="2468880"/>
            <a:ext cx="1783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85444"/>
                </a:solidFill>
                <a:latin typeface="Georgia"/>
              </a:defRPr>
            </a:pPr>
            <a:r>
              <a:t>4. Cultural Dip</a:t>
            </a:r>
          </a:p>
          <a:p>
            <a:pPr>
              <a:defRPr sz="1050">
                <a:solidFill>
                  <a:srgbClr val="64746C"/>
                </a:solidFill>
                <a:latin typeface="Arial"/>
              </a:defRPr>
            </a:pPr>
            <a:r>
              <a:t>Visits Raghunath Mandir, discovers verified Dogra Kaladi Kulcha with Jain/Pure Veg tag, and explores authentic Basohli handicraft shop.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00032" y="1737360"/>
            <a:ext cx="20574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582912" y="1920240"/>
            <a:ext cx="1691640" cy="411480"/>
          </a:xfrm>
          <a:prstGeom prst="roundRect">
            <a:avLst/>
          </a:prstGeom>
          <a:solidFill>
            <a:srgbClr val="9E4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STEP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7192" y="2468880"/>
            <a:ext cx="1783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85444"/>
                </a:solidFill>
                <a:latin typeface="Georgia"/>
              </a:defRPr>
            </a:pPr>
            <a:r>
              <a:t>5. Safe Transit</a:t>
            </a:r>
          </a:p>
          <a:p>
            <a:pPr>
              <a:defRPr sz="1050">
                <a:solidFill>
                  <a:srgbClr val="64746C"/>
                </a:solidFill>
                <a:latin typeface="Arial"/>
              </a:defRPr>
            </a:pPr>
            <a:r>
              <a:t>Arrives back at Jammu Tawi with 50 minutes to spare. Smoothly boards onward Vande Bharat Express to Katra with complete peace of mind.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6C"/>
                </a:solidFill>
                <a:latin typeface="Arial"/>
              </a:defRPr>
            </a:pPr>
            <a:r>
              <a:t>JammuKhoj • Smart Tourism &amp; Pilgrim Companion • https://jammukhoj.in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E4A0C"/>
                </a:solidFill>
                <a:latin typeface="Arial"/>
              </a:defRPr>
            </a:pPr>
            <a:r>
              <a:t>06 | COMPETITIVE DIFFERENTIATION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85444"/>
                </a:solidFill>
                <a:latin typeface="Georgia"/>
              </a:defRPr>
            </a:pPr>
            <a:r>
              <a:t>How JammuKhoj Solves What Generic Travel Apps Miss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6C"/>
                </a:solidFill>
                <a:latin typeface="Arial"/>
              </a:defRPr>
            </a:pPr>
            <a:r>
              <a:t>Direct comparison against Google Maps, MakeMyTrip, and generic travel blogs.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728655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  <a:gridCol w="3047695"/>
              </a:tblGrid>
              <a:tr h="7162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Feature Dimension</a:t>
                      </a:r>
                    </a:p>
                  </a:txBody>
                  <a:tcPr>
                    <a:solidFill>
                      <a:srgbClr val="123E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Google Maps</a:t>
                      </a:r>
                    </a:p>
                  </a:txBody>
                  <a:tcPr>
                    <a:solidFill>
                      <a:srgbClr val="123E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MakeMyTrip / OTA</a:t>
                      </a:r>
                    </a:p>
                  </a:txBody>
                  <a:tcPr>
                    <a:solidFill>
                      <a:srgbClr val="123E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D97706"/>
                          </a:solidFill>
                        </a:defRPr>
                      </a:pPr>
                      <a:r>
                        <a:t>JammuKhoj (Our Solution)</a:t>
                      </a:r>
                    </a:p>
                  </a:txBody>
                  <a:tcPr>
                    <a:solidFill>
                      <a:srgbClr val="085444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2923"/>
                          </a:solidFill>
                          <a:latin typeface="Arial"/>
                        </a:defRPr>
                      </a:pPr>
                      <a:r>
                        <a:t>Offline Autonomy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6C"/>
                          </a:solidFill>
                          <a:latin typeface="Arial"/>
                        </a:defRPr>
                      </a:pPr>
                      <a:r>
                        <a:t>Requires data for routes &amp; searches; fails in remote mountain spots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6C"/>
                          </a:solidFill>
                          <a:latin typeface="Arial"/>
                        </a:defRPr>
                      </a:pPr>
                      <a:r>
                        <a:t>100% online; fails without mobile connectivity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85444"/>
                          </a:solidFill>
                          <a:latin typeface="Arial"/>
                        </a:defRPr>
                      </a:pPr>
                      <a:r>
                        <a:t>100% On-Device IndexedDB; full routing, cards &amp; search offline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2923"/>
                          </a:solidFill>
                          <a:latin typeface="Arial"/>
                        </a:defRPr>
                      </a:pPr>
                      <a:r>
                        <a:t>Time-Budget Safe Planning</a:t>
                      </a:r>
                    </a:p>
                  </a:txBody>
                  <a:tcPr>
                    <a:solidFill>
                      <a:srgbClr val="F3EF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6C"/>
                          </a:solidFill>
                          <a:latin typeface="Arial"/>
                        </a:defRPr>
                      </a:pPr>
                      <a:r>
                        <a:t>Point-to-point only; ignores train/flight layover deadlines</a:t>
                      </a:r>
                    </a:p>
                  </a:txBody>
                  <a:tcPr>
                    <a:solidFill>
                      <a:srgbClr val="F3EF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6C"/>
                          </a:solidFill>
                          <a:latin typeface="Arial"/>
                        </a:defRPr>
                      </a:pPr>
                      <a:r>
                        <a:t>Rigid tour packages; no layover customization</a:t>
                      </a:r>
                    </a:p>
                  </a:txBody>
                  <a:tcPr>
                    <a:solidFill>
                      <a:srgbClr val="F3EF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85444"/>
                          </a:solidFill>
                          <a:latin typeface="Arial"/>
                        </a:defRPr>
                      </a:pPr>
                      <a:r>
                        <a:t>Dynamic 4h/8h/24h buffer engine; never misses your train</a:t>
                      </a:r>
                    </a:p>
                  </a:txBody>
                  <a:tcPr>
                    <a:solidFill>
                      <a:srgbClr val="F3EFEA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2923"/>
                          </a:solidFill>
                          <a:latin typeface="Arial"/>
                        </a:defRPr>
                      </a:pPr>
                      <a:r>
                        <a:t>Local Transit Transparency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6C"/>
                          </a:solidFill>
                          <a:latin typeface="Arial"/>
                        </a:defRPr>
                      </a:pPr>
                      <a:r>
                        <a:t>No Matador routes; no fare benchmarks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6C"/>
                          </a:solidFill>
                          <a:latin typeface="Arial"/>
                        </a:defRPr>
                      </a:pPr>
                      <a:r>
                        <a:t>Only commercial prepaid cabs at high markup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85444"/>
                          </a:solidFill>
                          <a:latin typeface="Arial"/>
                        </a:defRPr>
                      </a:pPr>
                      <a:r>
                        <a:t>Complete Matador route guide (₹10-25) + Auto &amp; Taxi Union benchmarks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2923"/>
                          </a:solidFill>
                          <a:latin typeface="Arial"/>
                        </a:defRPr>
                      </a:pPr>
                      <a:r>
                        <a:t>Senior &amp; Pilgrim Care</a:t>
                      </a:r>
                    </a:p>
                  </a:txBody>
                  <a:tcPr>
                    <a:solidFill>
                      <a:srgbClr val="F3EF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6C"/>
                          </a:solidFill>
                          <a:latin typeface="Arial"/>
                        </a:defRPr>
                      </a:pPr>
                      <a:r>
                        <a:t>No walking load or step-free data for temples</a:t>
                      </a:r>
                    </a:p>
                  </a:txBody>
                  <a:tcPr>
                    <a:solidFill>
                      <a:srgbClr val="F3EF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6C"/>
                          </a:solidFill>
                          <a:latin typeface="Arial"/>
                        </a:defRPr>
                      </a:pPr>
                      <a:r>
                        <a:t>Standard generic hotel packages</a:t>
                      </a:r>
                    </a:p>
                  </a:txBody>
                  <a:tcPr>
                    <a:solidFill>
                      <a:srgbClr val="F3EF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85444"/>
                          </a:solidFill>
                          <a:latin typeface="Arial"/>
                        </a:defRPr>
                      </a:pPr>
                      <a:r>
                        <a:t>Step-free badges, walking load (low/med/high), battery car rules</a:t>
                      </a:r>
                    </a:p>
                  </a:txBody>
                  <a:tcPr>
                    <a:solidFill>
                      <a:srgbClr val="F3EFEA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2923"/>
                          </a:solidFill>
                          <a:latin typeface="Arial"/>
                        </a:defRPr>
                      </a:pPr>
                      <a:r>
                        <a:t>Privacy &amp; Data Safety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6C"/>
                          </a:solidFill>
                          <a:latin typeface="Arial"/>
                        </a:defRPr>
                      </a:pPr>
                      <a:r>
                        <a:t>Pervasive ad-tracking, profiling &amp; location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6C"/>
                          </a:solidFill>
                          <a:latin typeface="Arial"/>
                        </a:defRPr>
                      </a:pPr>
                      <a:r>
                        <a:t>Monetizes user data with aggressive 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85444"/>
                          </a:solidFill>
                          <a:latin typeface="Arial"/>
                        </a:defRPr>
                      </a:pPr>
                      <a:r>
                        <a:t>Zero cookies, zero surveillance, 100% client-side privacy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6C"/>
                </a:solidFill>
                <a:latin typeface="Arial"/>
              </a:defRPr>
            </a:pPr>
            <a:r>
              <a:t>JammuKhoj • Smart Tourism &amp; Pilgrim Companion • https://jammukhoj.in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E4A0C"/>
                </a:solidFill>
                <a:latin typeface="Arial"/>
              </a:defRPr>
            </a:pPr>
            <a:r>
              <a:t>07 | IMPACT &amp;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85444"/>
                </a:solidFill>
                <a:latin typeface="Georgia"/>
              </a:defRPr>
            </a:pPr>
            <a:r>
              <a:t>Measurable Economic, Civic, and Social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6C"/>
                </a:solidFill>
                <a:latin typeface="Arial"/>
              </a:defRPr>
            </a:pPr>
            <a:r>
              <a:t>High-leverage impact for local artisans, transit riders, and pilgrim safety.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560320" cy="2011680"/>
          </a:xfrm>
          <a:prstGeom prst="roundRect">
            <a:avLst/>
          </a:prstGeom>
          <a:solidFill>
            <a:srgbClr val="085444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2286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D97706"/>
                </a:solidFill>
                <a:latin typeface="Georgia"/>
              </a:defRPr>
            </a:pPr>
            <a:r>
              <a:t>3x</a:t>
            </a:r>
          </a:p>
          <a:p>
            <a:pPr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Increase in Dwell Time</a:t>
            </a:r>
          </a:p>
          <a:p>
            <a:pPr>
              <a:defRPr sz="950">
                <a:solidFill>
                  <a:srgbClr val="F3EFEA"/>
                </a:solidFill>
              </a:defRPr>
            </a:pPr>
            <a:r>
              <a:t>Extending visitor stay from &lt;2 hours to 6-8 hours through safe, reliable layover circuits.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560320" cy="2011680"/>
          </a:xfrm>
          <a:prstGeom prst="roundRect">
            <a:avLst/>
          </a:prstGeom>
          <a:solidFill>
            <a:srgbClr val="085444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874519"/>
            <a:ext cx="2286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D97706"/>
                </a:solidFill>
                <a:latin typeface="Georgia"/>
              </a:defRPr>
            </a:pPr>
            <a:r>
              <a:t>₹150 Cr+</a:t>
            </a:r>
          </a:p>
          <a:p>
            <a:pPr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Economic Unlock Target</a:t>
            </a:r>
          </a:p>
          <a:p>
            <a:pPr>
              <a:defRPr sz="950">
                <a:solidFill>
                  <a:srgbClr val="F3EFEA"/>
                </a:solidFill>
              </a:defRPr>
            </a:pPr>
            <a:r>
              <a:t>Direct injection of traveler expenditure into local Dogra food, crafts, and municipal transport.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737360"/>
            <a:ext cx="2560320" cy="2011680"/>
          </a:xfrm>
          <a:prstGeom prst="roundRect">
            <a:avLst/>
          </a:prstGeom>
          <a:solidFill>
            <a:srgbClr val="085444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874519"/>
            <a:ext cx="2286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D97706"/>
                </a:solidFill>
                <a:latin typeface="Georgia"/>
              </a:defRPr>
            </a:pPr>
            <a:r>
              <a:t>₹1,200</a:t>
            </a:r>
          </a:p>
          <a:p>
            <a:pPr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Avg Savings per Family</a:t>
            </a:r>
          </a:p>
          <a:p>
            <a:pPr>
              <a:defRPr sz="950">
                <a:solidFill>
                  <a:srgbClr val="F3EFEA"/>
                </a:solidFill>
              </a:defRPr>
            </a:pPr>
            <a:r>
              <a:t>Preventing exploitative overcharging on local transit and authentic certified souvenirs.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737360"/>
            <a:ext cx="2560320" cy="2011680"/>
          </a:xfrm>
          <a:prstGeom prst="roundRect">
            <a:avLst/>
          </a:prstGeom>
          <a:solidFill>
            <a:srgbClr val="085444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1874519"/>
            <a:ext cx="2286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D97706"/>
                </a:solidFill>
                <a:latin typeface="Georgia"/>
              </a:defRPr>
            </a:pPr>
            <a:r>
              <a:t>0</a:t>
            </a:r>
          </a:p>
          <a:p>
            <a:pPr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Missed Boarding Events</a:t>
            </a:r>
          </a:p>
          <a:p>
            <a:pPr>
              <a:defRPr sz="950">
                <a:solidFill>
                  <a:srgbClr val="F3EFEA"/>
                </a:solidFill>
              </a:defRPr>
            </a:pPr>
            <a:r>
              <a:t>100% adherence to safety return buffers (45-min rail / 150-min flight) across 1-tap itineraries.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77639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6908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85444"/>
                </a:solidFill>
                <a:latin typeface="Georgia"/>
              </a:defRPr>
            </a:pPr>
            <a:r>
              <a:t>🏛️ Cultural &amp; GI Heritage Renaissance</a:t>
            </a:r>
          </a:p>
          <a:p>
            <a:pPr>
              <a:defRPr sz="1050">
                <a:solidFill>
                  <a:srgbClr val="64746C"/>
                </a:solidFill>
              </a:defRPr>
            </a:pPr>
            <a:r>
              <a:t>Empowering Basohli painters, Pashmina weavers, and Bhaderwah farmers with verified outlet discovery and fake-identification guides. Pilgrims purchase authentic GI certified heritage at fair benchmark prices directly supporting cottage industries.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977639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406908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85444"/>
                </a:solidFill>
                <a:latin typeface="Georgia"/>
              </a:defRPr>
            </a:pPr>
            <a:r>
              <a:t>🛡️ Public Safety &amp; Yatra Welfare</a:t>
            </a:r>
          </a:p>
          <a:p>
            <a:pPr>
              <a:defRPr sz="1050">
                <a:solidFill>
                  <a:srgbClr val="64746C"/>
                </a:solidFill>
              </a:defRPr>
            </a:pPr>
            <a:r>
              <a:t>1-Tap WhatsApp GPS SOS dispatcher and offline dialers for ERSS 112, SMVDSB Shrine Helplines, and women's assistance. Real-time dynamic temple crowd meters and aarti timings prevent stampedes and reduce elder exhaustion during Navratri surges.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6C"/>
                </a:solidFill>
                <a:latin typeface="Arial"/>
              </a:defRPr>
            </a:pPr>
            <a:r>
              <a:t>JammuKhoj • Smart Tourism &amp; Pilgrim Companion • https://jammukhoj.in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E4A0C"/>
                </a:solidFill>
                <a:latin typeface="Arial"/>
              </a:defRPr>
            </a:pPr>
            <a:r>
              <a:t>08 | EXECUTION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85444"/>
                </a:solidFill>
                <a:latin typeface="Georgia"/>
              </a:defRPr>
            </a:pPr>
            <a:r>
              <a:t>4-Stage Scalable Deployment Plan (2026 - 2027)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6C"/>
                </a:solidFill>
                <a:latin typeface="Arial"/>
              </a:defRPr>
            </a:pPr>
            <a:r>
              <a:t>From hackathon proof-of-concept to institutional state-wide deployment.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5603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1920240"/>
            <a:ext cx="2286000" cy="548640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Phase 1: Foundation</a:t>
            </a:r>
          </a:p>
          <a:p>
            <a:pPr algn="ctr">
              <a:defRPr sz="900">
                <a:solidFill>
                  <a:srgbClr val="D97706"/>
                </a:solidFill>
              </a:defRPr>
            </a:pPr>
            <a:r>
              <a:t>CURRENT • COMPLETED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2286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050">
                <a:solidFill>
                  <a:srgbClr val="1C2923"/>
                </a:solidFill>
                <a:latin typeface="Arial"/>
              </a:defRPr>
            </a:pPr>
            <a:r>
              <a:t>✓  100% offline-ready PWA &amp; Android app live.</a:t>
            </a:r>
          </a:p>
          <a:p>
            <a:pPr>
              <a:spcAft>
                <a:spcPts val="800"/>
              </a:spcAft>
              <a:defRPr sz="1050">
                <a:solidFill>
                  <a:srgbClr val="1C2923"/>
                </a:solidFill>
                <a:latin typeface="Arial"/>
              </a:defRPr>
            </a:pPr>
            <a:r>
              <a:t>✓  Custom domain jammukhoj.in &amp; Schema.org SEO.</a:t>
            </a:r>
          </a:p>
          <a:p>
            <a:pPr>
              <a:spcAft>
                <a:spcPts val="800"/>
              </a:spcAft>
              <a:defRPr sz="1050">
                <a:solidFill>
                  <a:srgbClr val="1C2923"/>
                </a:solidFill>
                <a:latin typeface="Arial"/>
              </a:defRPr>
            </a:pPr>
            <a:r>
              <a:t>✓  36+ curated attractions &amp; 44/44 test suite passed.</a:t>
            </a:r>
          </a:p>
          <a:p>
            <a:pPr>
              <a:spcAft>
                <a:spcPts val="800"/>
              </a:spcAft>
              <a:defRPr sz="1050">
                <a:solidFill>
                  <a:srgbClr val="1C2923"/>
                </a:solidFill>
                <a:latin typeface="Arial"/>
              </a:defRPr>
            </a:pPr>
            <a:r>
              <a:t>✓  1-Tap buffer-safe planner &amp; transit matrix.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737360"/>
            <a:ext cx="25603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66160" y="1920240"/>
            <a:ext cx="2286000" cy="548640"/>
          </a:xfrm>
          <a:prstGeom prst="roundRect">
            <a:avLst/>
          </a:prstGeom>
          <a:solidFill>
            <a:srgbClr val="085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Phase 2: Station Pilot</a:t>
            </a:r>
          </a:p>
          <a:p>
            <a:pPr algn="ctr">
              <a:defRPr sz="900">
                <a:solidFill>
                  <a:srgbClr val="D97706"/>
                </a:solidFill>
              </a:defRPr>
            </a:pPr>
            <a:r>
              <a:t>Q1 - Q2 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606040"/>
            <a:ext cx="2286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050">
                <a:solidFill>
                  <a:srgbClr val="1C2923"/>
                </a:solidFill>
                <a:latin typeface="Arial"/>
              </a:defRPr>
            </a:pPr>
            <a:r>
              <a:t>✓  Physical QR kiosks at Jammu Tawi &amp; SVDK Katra.</a:t>
            </a:r>
          </a:p>
          <a:p>
            <a:pPr>
              <a:spcAft>
                <a:spcPts val="800"/>
              </a:spcAft>
              <a:defRPr sz="1050">
                <a:solidFill>
                  <a:srgbClr val="1C2923"/>
                </a:solidFill>
                <a:latin typeface="Arial"/>
              </a:defRPr>
            </a:pPr>
            <a:r>
              <a:t>✓  Collaboration with J&amp;K RTC for live e-bus tracking.</a:t>
            </a:r>
          </a:p>
          <a:p>
            <a:pPr>
              <a:spcAft>
                <a:spcPts val="800"/>
              </a:spcAft>
              <a:defRPr sz="1050">
                <a:solidFill>
                  <a:srgbClr val="1C2923"/>
                </a:solidFill>
                <a:latin typeface="Arial"/>
              </a:defRPr>
            </a:pPr>
            <a:r>
              <a:t>✓  Pilot onboardings with 50+ verified local merchants.</a:t>
            </a:r>
          </a:p>
          <a:p>
            <a:pPr>
              <a:spcAft>
                <a:spcPts val="800"/>
              </a:spcAft>
              <a:defRPr sz="1050">
                <a:solidFill>
                  <a:srgbClr val="1C2923"/>
                </a:solidFill>
                <a:latin typeface="Arial"/>
              </a:defRPr>
            </a:pPr>
            <a:r>
              <a:t>✓  Target: 50,000 active pilgrim sessions.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737360"/>
            <a:ext cx="25603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1920240"/>
            <a:ext cx="2286000" cy="548640"/>
          </a:xfrm>
          <a:prstGeom prst="roundRect">
            <a:avLst/>
          </a:prstGeom>
          <a:solidFill>
            <a:srgbClr val="9E4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Phase 3: Institutional Tie-up</a:t>
            </a:r>
          </a:p>
          <a:p>
            <a:pPr algn="ctr">
              <a:defRPr sz="900">
                <a:solidFill>
                  <a:srgbClr val="FFFFFF"/>
                </a:solidFill>
              </a:defRPr>
            </a:pPr>
            <a:r>
              <a:t>Q3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606040"/>
            <a:ext cx="2286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050">
                <a:solidFill>
                  <a:srgbClr val="1C2923"/>
                </a:solidFill>
                <a:latin typeface="Arial"/>
              </a:defRPr>
            </a:pPr>
            <a:r>
              <a:t>✓  Integration with SMVDSB Shrine Board RFID counters.</a:t>
            </a:r>
          </a:p>
          <a:p>
            <a:pPr>
              <a:spcAft>
                <a:spcPts val="800"/>
              </a:spcAft>
              <a:defRPr sz="1050">
                <a:solidFill>
                  <a:srgbClr val="1C2923"/>
                </a:solidFill>
                <a:latin typeface="Arial"/>
              </a:defRPr>
            </a:pPr>
            <a:r>
              <a:t>✓  Official endorsement by J&amp;K Directorate of Tourism.</a:t>
            </a:r>
          </a:p>
          <a:p>
            <a:pPr>
              <a:spcAft>
                <a:spcPts val="800"/>
              </a:spcAft>
              <a:defRPr sz="1050">
                <a:solidFill>
                  <a:srgbClr val="1C2923"/>
                </a:solidFill>
                <a:latin typeface="Arial"/>
              </a:defRPr>
            </a:pPr>
            <a:r>
              <a:t>✓  Battery car live queue advisory in Katra.</a:t>
            </a:r>
          </a:p>
          <a:p>
            <a:pPr>
              <a:spcAft>
                <a:spcPts val="800"/>
              </a:spcAft>
              <a:defRPr sz="1050">
                <a:solidFill>
                  <a:srgbClr val="1C2923"/>
                </a:solidFill>
                <a:latin typeface="Arial"/>
              </a:defRPr>
            </a:pPr>
            <a:r>
              <a:t>✓  Target: 250,000 active monthly yatris.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737360"/>
            <a:ext cx="25603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920240"/>
            <a:ext cx="2286000" cy="548640"/>
          </a:xfrm>
          <a:prstGeom prst="roundRect">
            <a:avLst/>
          </a:prstGeom>
          <a:solidFill>
            <a:srgbClr val="123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Phase 4: Ecosystem Scale</a:t>
            </a:r>
          </a:p>
          <a:p>
            <a:pPr algn="ctr">
              <a:defRPr sz="900">
                <a:solidFill>
                  <a:srgbClr val="D97706"/>
                </a:solidFill>
              </a:defRPr>
            </a:pPr>
            <a:r>
              <a:t>Q4 2027+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606040"/>
            <a:ext cx="2286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050">
                <a:solidFill>
                  <a:srgbClr val="1C2923"/>
                </a:solidFill>
                <a:latin typeface="Arial"/>
              </a:defRPr>
            </a:pPr>
            <a:r>
              <a:t>✓  Expansion to Bhaderwah, Kishtwar, Poonch &amp; Rajouri.</a:t>
            </a:r>
          </a:p>
          <a:p>
            <a:pPr>
              <a:spcAft>
                <a:spcPts val="800"/>
              </a:spcAft>
              <a:defRPr sz="1050">
                <a:solidFill>
                  <a:srgbClr val="1C2923"/>
                </a:solidFill>
                <a:latin typeface="Arial"/>
              </a:defRPr>
            </a:pPr>
            <a:r>
              <a:t>✓  Audio heritage trails in Dogri, Hindi &amp; English.</a:t>
            </a:r>
          </a:p>
          <a:p>
            <a:pPr>
              <a:spcAft>
                <a:spcPts val="800"/>
              </a:spcAft>
              <a:defRPr sz="1050">
                <a:solidFill>
                  <a:srgbClr val="1C2923"/>
                </a:solidFill>
                <a:latin typeface="Arial"/>
              </a:defRPr>
            </a:pPr>
            <a:r>
              <a:t>✓  Crowdsourced community fare update mechanisms.</a:t>
            </a:r>
          </a:p>
          <a:p>
            <a:pPr>
              <a:spcAft>
                <a:spcPts val="800"/>
              </a:spcAft>
              <a:defRPr sz="1050">
                <a:solidFill>
                  <a:srgbClr val="1C2923"/>
                </a:solidFill>
                <a:latin typeface="Arial"/>
              </a:defRPr>
            </a:pPr>
            <a:r>
              <a:t>✓  Standard blueprint for other Indian pilgrim corridors.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6C"/>
                </a:solidFill>
                <a:latin typeface="Arial"/>
              </a:defRPr>
            </a:pPr>
            <a:r>
              <a:t>JammuKhoj • Smart Tourism &amp; Pilgrim Companion • https://jammukhoj.in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E4A0C"/>
                </a:solidFill>
                <a:latin typeface="Arial"/>
              </a:defRPr>
            </a:pPr>
            <a:r>
              <a:t>09 | TRUST &amp; SUSTAINABILITY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85444"/>
                </a:solidFill>
                <a:latin typeface="Georgia"/>
              </a:defRPr>
            </a:pPr>
            <a:r>
              <a:t>Civic Integrity, Zero-Surveillance Privacy &amp; Low Footprint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6C"/>
                </a:solidFill>
                <a:latin typeface="Arial"/>
              </a:defRPr>
            </a:pPr>
            <a:r>
              <a:t>Built to protect user autonomy and operate sustainably without predatory monetization.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4290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85444"/>
                </a:solidFill>
                <a:latin typeface="Georgia"/>
              </a:defRPr>
            </a:pPr>
            <a:r>
              <a:t>🔒 Zero-Knowledge Privacy</a:t>
            </a:r>
          </a:p>
          <a:p>
            <a:pPr>
              <a:spcAft>
                <a:spcPts val="1200"/>
              </a:spcAft>
              <a:defRPr sz="1100" b="1">
                <a:solidFill>
                  <a:srgbClr val="9E4A0C"/>
                </a:solidFill>
                <a:latin typeface="Arial"/>
              </a:defRPr>
            </a:pPr>
            <a:r>
              <a:t>No Tracking • No Ad Telemetry</a:t>
            </a:r>
          </a:p>
          <a:p>
            <a:pPr>
              <a:spcAft>
                <a:spcPts val="800"/>
              </a:spcAft>
              <a:defRPr sz="1100">
                <a:solidFill>
                  <a:srgbClr val="64746C"/>
                </a:solidFill>
                <a:latin typeface="Arial"/>
              </a:defRPr>
            </a:pPr>
            <a:r>
              <a:t>•  100% of personal plans, bookmarks, and logs remain in local device IndexedDB.</a:t>
            </a:r>
          </a:p>
          <a:p>
            <a:pPr>
              <a:spcAft>
                <a:spcPts val="800"/>
              </a:spcAft>
              <a:defRPr sz="1100">
                <a:solidFill>
                  <a:srgbClr val="64746C"/>
                </a:solidFill>
                <a:latin typeface="Arial"/>
              </a:defRPr>
            </a:pPr>
            <a:r>
              <a:t>•  No third-party advertising SDKs or tracking cookies.</a:t>
            </a:r>
          </a:p>
          <a:p>
            <a:pPr>
              <a:spcAft>
                <a:spcPts val="800"/>
              </a:spcAft>
              <a:defRPr sz="1100">
                <a:solidFill>
                  <a:srgbClr val="64746C"/>
                </a:solidFill>
                <a:latin typeface="Arial"/>
              </a:defRPr>
            </a:pPr>
            <a:r>
              <a:t>•  One-tap permanent account and device cache deletion conforming to Google Play Data Safety policies.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37360"/>
            <a:ext cx="34290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85444"/>
                </a:solidFill>
                <a:latin typeface="Georgia"/>
              </a:defRPr>
            </a:pPr>
            <a:r>
              <a:t>🌱 Ultra-Low Resource Footprint</a:t>
            </a:r>
          </a:p>
          <a:p>
            <a:pPr>
              <a:spcAft>
                <a:spcPts val="1200"/>
              </a:spcAft>
              <a:defRPr sz="1100" b="1">
                <a:solidFill>
                  <a:srgbClr val="9E4A0C"/>
                </a:solidFill>
                <a:latin typeface="Arial"/>
              </a:defRPr>
            </a:pPr>
            <a:r>
              <a:t>Battery &amp; Network Conscious</a:t>
            </a:r>
          </a:p>
          <a:p>
            <a:pPr>
              <a:spcAft>
                <a:spcPts val="800"/>
              </a:spcAft>
              <a:defRPr sz="1100">
                <a:solidFill>
                  <a:srgbClr val="64746C"/>
                </a:solidFill>
                <a:latin typeface="Arial"/>
              </a:defRPr>
            </a:pPr>
            <a:r>
              <a:t>•  Compressed offline package (~5 MB APK / &lt;2 MB web assets).</a:t>
            </a:r>
          </a:p>
          <a:p>
            <a:pPr>
              <a:spcAft>
                <a:spcPts val="800"/>
              </a:spcAft>
              <a:defRPr sz="1100">
                <a:solidFill>
                  <a:srgbClr val="64746C"/>
                </a:solidFill>
                <a:latin typeface="Arial"/>
              </a:defRPr>
            </a:pPr>
            <a:r>
              <a:t>•  Optimized for budget Android devices prevalent across Indian pilgrim cohorts.</a:t>
            </a:r>
          </a:p>
          <a:p>
            <a:pPr>
              <a:spcAft>
                <a:spcPts val="800"/>
              </a:spcAft>
              <a:defRPr sz="1100">
                <a:solidFill>
                  <a:srgbClr val="64746C"/>
                </a:solidFill>
                <a:latin typeface="Arial"/>
              </a:defRPr>
            </a:pPr>
            <a:r>
              <a:t>•  OLED-friendly dark mode and high-contrast accessibility modes reducing battery draw during long travel.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737360"/>
            <a:ext cx="34290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85444"/>
                </a:solidFill>
                <a:latin typeface="Georgia"/>
              </a:defRPr>
            </a:pPr>
            <a:r>
              <a:t>🤝 Sustainable Civic Model</a:t>
            </a:r>
          </a:p>
          <a:p>
            <a:pPr>
              <a:spcAft>
                <a:spcPts val="1200"/>
              </a:spcAft>
              <a:defRPr sz="1100" b="1">
                <a:solidFill>
                  <a:srgbClr val="9E4A0C"/>
                </a:solidFill>
                <a:latin typeface="Arial"/>
              </a:defRPr>
            </a:pPr>
            <a:r>
              <a:t>Public-Private Community Co-ops</a:t>
            </a:r>
          </a:p>
          <a:p>
            <a:pPr>
              <a:spcAft>
                <a:spcPts val="800"/>
              </a:spcAft>
              <a:defRPr sz="1100">
                <a:solidFill>
                  <a:srgbClr val="64746C"/>
                </a:solidFill>
                <a:latin typeface="Arial"/>
              </a:defRPr>
            </a:pPr>
            <a:r>
              <a:t>•  Non-commission based directory preventing price distortion for travelers.</a:t>
            </a:r>
          </a:p>
          <a:p>
            <a:pPr>
              <a:spcAft>
                <a:spcPts val="800"/>
              </a:spcAft>
              <a:defRPr sz="1100">
                <a:solidFill>
                  <a:srgbClr val="64746C"/>
                </a:solidFill>
                <a:latin typeface="Arial"/>
              </a:defRPr>
            </a:pPr>
            <a:r>
              <a:t>•  Verified artisan and homestay listings supported by J&amp;K Tourism development authorities.</a:t>
            </a:r>
          </a:p>
          <a:p>
            <a:pPr>
              <a:spcAft>
                <a:spcPts val="800"/>
              </a:spcAft>
              <a:defRPr sz="1100">
                <a:solidFill>
                  <a:srgbClr val="64746C"/>
                </a:solidFill>
                <a:latin typeface="Arial"/>
              </a:defRPr>
            </a:pPr>
            <a:r>
              <a:t>•  Open-source data structures contributing back to OpenStreetMap and civic datasets.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6C"/>
                </a:solidFill>
                <a:latin typeface="Arial"/>
              </a:defRPr>
            </a:pPr>
            <a:r>
              <a:t>JammuKhoj • Smart Tourism &amp; Pilgrim Companion • https://jammukhoj.in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5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23E3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CLOSING PITCH • PILOT CALL TO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601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Georgia"/>
              </a:defRPr>
            </a:pPr>
            <a:r>
              <a:t>Partner with Us to Transform Jammu Tourism</a:t>
            </a:r>
          </a:p>
          <a:p>
            <a:pPr>
              <a:defRPr sz="1600">
                <a:solidFill>
                  <a:srgbClr val="D97706"/>
                </a:solidFill>
              </a:defRPr>
            </a:pPr>
            <a:r>
              <a:t>Let's turn a hurried 2-hour transit rush into an enriching, safe cultural gateway.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651760"/>
            <a:ext cx="3154680" cy="2103120"/>
          </a:xfrm>
          <a:prstGeom prst="roundRect">
            <a:avLst/>
          </a:prstGeom>
          <a:solidFill>
            <a:srgbClr val="085444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788920"/>
            <a:ext cx="2880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97706"/>
                </a:solidFill>
                <a:latin typeface="Georgia"/>
              </a:defRPr>
            </a:pPr>
            <a:r>
              <a:t>1. Transit Signage Pilot</a:t>
            </a:r>
          </a:p>
          <a:p>
            <a:pPr>
              <a:defRPr sz="1050">
                <a:solidFill>
                  <a:srgbClr val="FFFFFF"/>
                </a:solidFill>
                <a:latin typeface="Arial"/>
              </a:defRPr>
            </a:pPr>
            <a:r>
              <a:t>Permission for QR code info panels at Jammu Tawi (JAT) and SVDK Katra station concourses to give yatris instant offline guide access.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651760"/>
            <a:ext cx="3154680" cy="2103120"/>
          </a:xfrm>
          <a:prstGeom prst="roundRect">
            <a:avLst/>
          </a:prstGeom>
          <a:solidFill>
            <a:srgbClr val="085444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788920"/>
            <a:ext cx="2880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97706"/>
                </a:solidFill>
                <a:latin typeface="Georgia"/>
              </a:defRPr>
            </a:pPr>
            <a:r>
              <a:t>2. Tourism Dept Data Link</a:t>
            </a:r>
          </a:p>
          <a:p>
            <a:pPr>
              <a:defRPr sz="1050">
                <a:solidFill>
                  <a:srgbClr val="FFFFFF"/>
                </a:solidFill>
                <a:latin typeface="Arial"/>
              </a:defRPr>
            </a:pPr>
            <a:r>
              <a:t>Official co-branding and verification link with Directorate of Tourism, Jammu (TRC) to keep fare tables and festival schedules authoritative.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651760"/>
            <a:ext cx="3154680" cy="2103120"/>
          </a:xfrm>
          <a:prstGeom prst="roundRect">
            <a:avLst/>
          </a:prstGeom>
          <a:solidFill>
            <a:srgbClr val="085444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2788920"/>
            <a:ext cx="2880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97706"/>
                </a:solidFill>
                <a:latin typeface="Georgia"/>
              </a:defRPr>
            </a:pPr>
            <a:r>
              <a:t>3. Shrine Board Sync</a:t>
            </a:r>
          </a:p>
          <a:p>
            <a:pPr>
              <a:defRPr sz="1050">
                <a:solidFill>
                  <a:srgbClr val="FFFFFF"/>
                </a:solidFill>
                <a:latin typeface="Arial"/>
              </a:defRPr>
            </a:pPr>
            <a:r>
              <a:t>Collaboration with SMVDSB Katra to integrate battery-car status, aarti timings, and emergency medical aid coordinates.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93776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Live Web App: https://jammukhoj.in  •  Contact: support@jammukhoj.in</a:t>
            </a:r>
          </a:p>
          <a:p>
            <a:pPr algn="ctr">
              <a:defRPr sz="1100">
                <a:solidFill>
                  <a:srgbClr val="D97706"/>
                </a:solidFill>
              </a:defRPr>
            </a:pPr>
            <a:r>
              <a:t>Open Source • 100% Offline Progressive Web App &amp; Android Ready • 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