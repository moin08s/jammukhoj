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32120"/>
          </a:xfrm>
          <a:prstGeom prst="roundRect">
            <a:avLst/>
          </a:prstGeom>
          <a:solidFill>
            <a:srgbClr val="0C2D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Arial"/>
              </a:defRPr>
            </a:pPr>
            <a:r>
              <a:t>OFFLINE-FIRST CIVIC TRAVEL INNOVATION • JAMMU DIVISION &amp; VAISHNO DEVI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JammuKhoj</a:t>
            </a:r>
          </a:p>
          <a:p>
            <a:pPr>
              <a:defRPr sz="1800">
                <a:solidFill>
                  <a:srgbClr val="D97706"/>
                </a:solidFill>
                <a:latin typeface="Arial"/>
              </a:defRPr>
            </a:pPr>
            <a:r>
              <a:t>जम्मू खोज • Your Jammu Journey, Made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6583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A production-ready progressive web app &amp; Android platform engineered for transit layovers and Mata Vaishno Devi pilgrims across the Jammu Division. 100% offline-ready with conservative train/flight safety buffers, transparent transport fare matrices, step-free senior guidance, and zero-tracking privacy.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06240"/>
            <a:ext cx="3154680" cy="7772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7939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⚡ 1-Tap Buffer Planner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4h, 8h &amp; 24h layover circuits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206240"/>
            <a:ext cx="3154680" cy="7772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27939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📶 100% Offline IndexedDB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Vector maps &amp; full routing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074920"/>
            <a:ext cx="3154680" cy="7772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14807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🚌 Transparent Transit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Matadors (₹10-25), Autos &amp; Taxis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074920"/>
            <a:ext cx="3154680" cy="7772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514807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🧓 Senior &amp; Pilgrim Ease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Step-free, battery cars &amp; 112 SOS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51560"/>
            <a:ext cx="2651760" cy="470916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_home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1124712"/>
            <a:ext cx="250545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02 •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The Transit Anxiety &amp; Information Vacuum in Jammu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Why millions of pilgrims pass through Jammu with friction, fear, and zero local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E4A0C"/>
                </a:solidFill>
                <a:latin typeface="Georgia"/>
              </a:defRPr>
            </a:pPr>
            <a:r>
              <a:t>🚨 Transit Anxiety &amp; Time Fear</a:t>
            </a:r>
          </a:p>
          <a:p>
            <a:pPr>
              <a:spcAft>
                <a:spcPts val="1000"/>
              </a:spcAft>
              <a:defRPr sz="1100" b="1">
                <a:solidFill>
                  <a:srgbClr val="1A2420"/>
                </a:solidFill>
              </a:defRPr>
            </a:pPr>
            <a:r>
              <a:t>Fear of Missing Onward Trains / Flights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Pilgrims face 4 to 12 hour layovers at Jammu Tawi or IXJ Airport.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Fear of mountain highway bottlenecks traps families on railway platforms.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Zero existing tools compute guaranteed conservative safety return buffers.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E4A0C"/>
                </a:solidFill>
                <a:latin typeface="Georgia"/>
              </a:defRPr>
            </a:pPr>
            <a:r>
              <a:t>💸 Transport Gouging &amp; Haggling</a:t>
            </a:r>
          </a:p>
          <a:p>
            <a:pPr>
              <a:spcAft>
                <a:spcPts val="1000"/>
              </a:spcAft>
              <a:defRPr sz="1100" b="1">
                <a:solidFill>
                  <a:srgbClr val="1A2420"/>
                </a:solidFill>
              </a:defRPr>
            </a:pPr>
            <a:r>
              <a:t>Unregulated Fares &amp; Commuter Harassment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Unsuspecting yatris routinely charged ₹800–₹1,500 for a ₹150 taxi ride.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Matador mini-bus stages and route numbers are completely opaque to outsiders.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Zero visibility into official prepaid auto/taxi union rate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916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E4A0C"/>
                </a:solidFill>
                <a:latin typeface="Georgia"/>
              </a:defRPr>
            </a:pPr>
            <a:r>
              <a:t>📴 Cellular Blackouts &amp; Accessibility</a:t>
            </a:r>
          </a:p>
          <a:p>
            <a:pPr>
              <a:spcAft>
                <a:spcPts val="1000"/>
              </a:spcAft>
              <a:defRPr sz="1100" b="1">
                <a:solidFill>
                  <a:srgbClr val="1A2420"/>
                </a:solidFill>
              </a:defRPr>
            </a:pPr>
            <a:r>
              <a:t>Mountain Dead Zones &amp; Elder Strain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Cloud-based travel apps crash in Shivalik foothill tunnels and dead zones.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Senior citizens face unexpected steep stairs without wheelchair/battery-car guidance.</a:t>
            </a:r>
          </a:p>
          <a:p>
            <a:pPr>
              <a:spcAft>
                <a:spcPts val="800"/>
              </a:spcAft>
              <a:defRPr sz="1050">
                <a:solidFill>
                  <a:srgbClr val="6C7A73"/>
                </a:solidFill>
              </a:defRPr>
            </a:pPr>
            <a:r>
              <a:t>•  Emergency hotlines and National ERSS 112 are scattered across fragmented websites.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03 • ECONOMIC &amp; CULTURAL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The 10-Million Pilgrim Paradox: Direct Transit Bypass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Immense visitor footfall that completely bypasses Jammu's cultural and economic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114800" cy="438912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D97706"/>
                </a:solidFill>
                <a:latin typeface="Georgia"/>
              </a:defRPr>
            </a:pPr>
            <a:r>
              <a:t>10,000,000+</a:t>
            </a:r>
          </a:p>
          <a:p>
            <a:pPr>
              <a:spcAft>
                <a:spcPts val="1800"/>
              </a:spcAft>
              <a:defRPr sz="1250">
                <a:solidFill>
                  <a:srgbClr val="FFFFFF"/>
                </a:solidFill>
              </a:defRPr>
            </a:pPr>
            <a:r>
              <a:t>Annual pilgrims transit through Jammu Tawi &amp; Katra to reach Shri Mata Vaishno Devi Shrine.</a:t>
            </a:r>
          </a:p>
          <a:p>
            <a:pPr>
              <a:defRPr sz="1700" b="1">
                <a:solidFill>
                  <a:srgbClr val="D97706"/>
                </a:solidFill>
                <a:latin typeface="Georgia"/>
              </a:defRPr>
            </a:pPr>
            <a:r>
              <a:t>&lt; 2 Hours Average Dwell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Over 85% of yatris treat Jammu as a mere train-to-bus transit hallway, unaware of rich Dogra heritage minutes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91640"/>
            <a:ext cx="6309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874519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85444"/>
                </a:solidFill>
                <a:latin typeface="Georgia"/>
              </a:defRPr>
            </a:pPr>
            <a:r>
              <a:t>Four Costly Tourism &amp; Economic Gaps</a:t>
            </a:r>
          </a:p>
          <a:p>
            <a:pPr>
              <a:defRPr sz="1200" b="1">
                <a:solidFill>
                  <a:srgbClr val="9E4A0C"/>
                </a:solidFill>
              </a:defRPr>
            </a:pPr>
            <a:r>
              <a:t>🏛️ Heritage Neglect</a:t>
            </a:r>
          </a:p>
          <a:p>
            <a:pPr>
              <a:spcAft>
                <a:spcPts val="600"/>
              </a:spcAft>
              <a:defRPr sz="1050">
                <a:solidFill>
                  <a:srgbClr val="6C7A73"/>
                </a:solidFill>
              </a:defRPr>
            </a:pPr>
            <a:r>
              <a:t>Mubarak Mandi Palace (Dogra royal seat), Bahu Fort (3000 yrs), and Amar Mahal witness only a tiny fraction of their visitor potential.</a:t>
            </a:r>
          </a:p>
          <a:p>
            <a:pPr>
              <a:defRPr sz="1200" b="1">
                <a:solidFill>
                  <a:srgbClr val="9E4A0C"/>
                </a:solidFill>
              </a:defRPr>
            </a:pPr>
            <a:r>
              <a:t>🛍️ GI Craft Exploitation</a:t>
            </a:r>
          </a:p>
          <a:p>
            <a:pPr>
              <a:spcAft>
                <a:spcPts val="600"/>
              </a:spcAft>
              <a:defRPr sz="1050">
                <a:solidFill>
                  <a:srgbClr val="6C7A73"/>
                </a:solidFill>
              </a:defRPr>
            </a:pPr>
            <a:r>
              <a:t>Authentic Dogra crafts (Basohli Paintings, Pashmina, Basohli Tweed, Bhaderwah Rajmash) lose sales to roadside highway fakes with no verified directory.</a:t>
            </a:r>
          </a:p>
          <a:p>
            <a:pPr>
              <a:defRPr sz="1200" b="1">
                <a:solidFill>
                  <a:srgbClr val="9E4A0C"/>
                </a:solidFill>
              </a:defRPr>
            </a:pPr>
            <a:r>
              <a:t>🍲 Forgotten Culinary Economy</a:t>
            </a:r>
          </a:p>
          <a:p>
            <a:pPr>
              <a:spcAft>
                <a:spcPts val="600"/>
              </a:spcAft>
              <a:defRPr sz="1050">
                <a:solidFill>
                  <a:srgbClr val="6C7A73"/>
                </a:solidFill>
              </a:defRPr>
            </a:pPr>
            <a:r>
              <a:t>Indigenous nutritious Dogra delicacies (Kaladi Kulcha, Dogra Dham, Sund Panjeeri) lose out to generic highway fast-food stalls.</a:t>
            </a:r>
          </a:p>
          <a:p>
            <a:pPr>
              <a:defRPr sz="1200" b="1">
                <a:solidFill>
                  <a:srgbClr val="9E4A0C"/>
                </a:solidFill>
              </a:defRPr>
            </a:pPr>
            <a:r>
              <a:t>📉 Lost Municipal Revenue</a:t>
            </a:r>
          </a:p>
          <a:p>
            <a:pPr>
              <a:spcAft>
                <a:spcPts val="600"/>
              </a:spcAft>
              <a:defRPr sz="1050">
                <a:solidFill>
                  <a:srgbClr val="6C7A73"/>
                </a:solidFill>
              </a:defRPr>
            </a:pPr>
            <a:r>
              <a:t>Estimates show Jammu City loses over ₹300 Crores annually in potential local hospitality, craft, and transportation income.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04 • THE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JammuKhoj: An Intelligent, Resilient Local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A human-centered progressive application tailored for zero-data environments and time-critical pilgrims.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5444"/>
                </a:solidFill>
                <a:latin typeface="Georgia"/>
              </a:defRPr>
            </a:pPr>
            <a:r>
              <a:t>⚡ 1-Tap Buffer-Safe Engine</a:t>
            </a:r>
          </a:p>
          <a:p>
            <a:pPr>
              <a:defRPr sz="1050">
                <a:solidFill>
                  <a:srgbClr val="6C7A73"/>
                </a:solidFill>
              </a:defRPr>
            </a:pPr>
            <a:r>
              <a:t>Deterministic layout generator tailored to traveler's exact layover window (4h Express, 8h Cultural, 24h Valley trail). Enforces a strict 45-min rail buffer &amp; 150-min air buffer, eliminating missed departures.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96512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5444"/>
                </a:solidFill>
                <a:latin typeface="Georgia"/>
              </a:defRPr>
            </a:pPr>
            <a:r>
              <a:t>📶 100% Offline Vector Stack</a:t>
            </a:r>
          </a:p>
          <a:p>
            <a:pPr>
              <a:defRPr sz="1050">
                <a:solidFill>
                  <a:srgbClr val="6C7A73"/>
                </a:solidFill>
              </a:defRPr>
            </a:pPr>
            <a:r>
              <a:t>Entire knowledge graph (36+ attractions, road topologies, timetables, dialer hotlines) bundled in local IndexedDB. Operates with zero SIM or data roaming in mountain valleys.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691640"/>
            <a:ext cx="2468880" cy="438912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pp_home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764792"/>
            <a:ext cx="2322576" cy="42428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69164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56232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5444"/>
                </a:solidFill>
                <a:latin typeface="Georgia"/>
              </a:defRPr>
            </a:pPr>
            <a:r>
              <a:t>🚌 Transparent Transit Intelligence</a:t>
            </a:r>
          </a:p>
          <a:p>
            <a:pPr>
              <a:defRPr sz="1050">
                <a:solidFill>
                  <a:srgbClr val="6C7A73"/>
                </a:solidFill>
              </a:defRPr>
            </a:pPr>
            <a:r>
              <a:t>Verified stage-by-stage Matador mini-bus routes, Smart City E-bus stops, and prepaid union matrices for auto-rickshaws and taxis to end passenger overcharging.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93192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096512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5444"/>
                </a:solidFill>
                <a:latin typeface="Georgia"/>
              </a:defRPr>
            </a:pPr>
            <a:r>
              <a:t>🧓 Elder &amp; Accessibility Care</a:t>
            </a:r>
          </a:p>
          <a:p>
            <a:pPr>
              <a:defRPr sz="1050">
                <a:solidFill>
                  <a:srgbClr val="6C7A73"/>
                </a:solidFill>
              </a:defRPr>
            </a:pPr>
            <a:r>
              <a:t>Step-free badges, walking load indicators (Low/Med/High), verified Vaishno Devi 5-stage trek manual, battery-car regulations, and 1-tap ERSS 112 WhatsApp location SOS.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05 • SEAMLESS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From Station Arrival to Holy Darshan in 5 Frictionless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Designed for immediate value without forced registration, heavy downloads, or steep learning curves.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772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E4A0C"/>
                </a:solidFill>
              </a:defRPr>
            </a:pPr>
            <a:r>
              <a:t>STEP 1: 1. ARRIVAL AT STATION / AIRPORT</a:t>
            </a:r>
          </a:p>
          <a:p>
            <a:pPr>
              <a:spcAft>
                <a:spcPts val="600"/>
              </a:spcAft>
              <a:defRPr sz="1000">
                <a:solidFill>
                  <a:srgbClr val="1A2420"/>
                </a:solidFill>
              </a:defRPr>
            </a:pPr>
            <a:r>
              <a:t>Yatri steps off train at Jammu Tawi (JAT) or IXJ Airport. Opens jammukhoj.in directly with 1 tap. Zero mandatory login barrier.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STEP 2: 2. 1-TAP ITINERARY GENERATION</a:t>
            </a:r>
          </a:p>
          <a:p>
            <a:pPr>
              <a:spcAft>
                <a:spcPts val="600"/>
              </a:spcAft>
              <a:defRPr sz="1000">
                <a:solidFill>
                  <a:srgbClr val="1A2420"/>
                </a:solidFill>
              </a:defRPr>
            </a:pPr>
            <a:r>
              <a:t>Selects layover: '4-Hour Express' from station. App automatically reserves 45-min departure buffer and crafts a 2.5-hr curated temple circuit.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STEP 3: 3. TRANSPARENT LOCAL TRANSIT</a:t>
            </a:r>
          </a:p>
          <a:p>
            <a:pPr>
              <a:spcAft>
                <a:spcPts val="600"/>
              </a:spcAft>
              <a:defRPr sz="1000">
                <a:solidFill>
                  <a:srgbClr val="1A2420"/>
                </a:solidFill>
              </a:defRPr>
            </a:pPr>
            <a:r>
              <a:t>Checks Matador Route #1 to Raghunath Bazaar. Boards with exact ₹15 fare; avoids cab touts quoting ₹400 for the same distance.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STEP 4: 4. CULTURAL DISCOVERY &amp; PURE VEG FOOD</a:t>
            </a:r>
          </a:p>
          <a:p>
            <a:pPr>
              <a:spcAft>
                <a:spcPts val="600"/>
              </a:spcAft>
              <a:defRPr sz="1000">
                <a:solidFill>
                  <a:srgbClr val="1A2420"/>
                </a:solidFill>
              </a:defRPr>
            </a:pPr>
            <a:r>
              <a:t>Offers prayers at Raghunath Mandir, tastes authentic Kaladi Kulcha with Jain/Pure Veg filter, and visits verified Basohli craft cooperative.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STEP 5: 5. SAFE ONWARD DEPARTURE</a:t>
            </a:r>
          </a:p>
          <a:p>
            <a:pPr>
              <a:spcAft>
                <a:spcPts val="600"/>
              </a:spcAft>
              <a:defRPr sz="1000">
                <a:solidFill>
                  <a:srgbClr val="1A2420"/>
                </a:solidFill>
              </a:defRPr>
            </a:pPr>
            <a:r>
              <a:t>Returns to station with 50 minutes to spare. Boards onward Vande Bharat Express to Katra for holy darshan with complete peace of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91640"/>
            <a:ext cx="2651760" cy="438912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tinerary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05456" cy="424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06 • 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How JammuKhoj Outperforms Generic Travel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Direct comparison against Google Maps, MakeMyTrip, and generic travel blogs.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1920240"/>
                <a:gridCol w="2194560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C2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0C2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MakeMyTrip / OTAs</a:t>
                      </a:r>
                    </a:p>
                  </a:txBody>
                  <a:tcPr>
                    <a:solidFill>
                      <a:srgbClr val="0C2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97706"/>
                          </a:solidFill>
                        </a:defRPr>
                      </a:pPr>
                      <a:r>
                        <a:t>JammuKhoj (Our App)</a:t>
                      </a:r>
                    </a:p>
                  </a:txBody>
                  <a:tcPr>
                    <a:solidFill>
                      <a:srgbClr val="0854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2420"/>
                          </a:solidFill>
                          <a:latin typeface="Arial"/>
                        </a:defRPr>
                      </a:pPr>
                      <a:r>
                        <a:t>Offline Autonomy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Fails in mountain tunnels &amp; valleys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100% online only; unusable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5444"/>
                          </a:solidFill>
                          <a:latin typeface="Arial"/>
                        </a:defRPr>
                      </a:pPr>
                      <a:r>
                        <a:t>100% On-Device IndexedDB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2420"/>
                          </a:solidFill>
                          <a:latin typeface="Arial"/>
                        </a:defRPr>
                      </a:pPr>
                      <a:r>
                        <a:t>Safe Buffer Planner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Ignores train layover deadlines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Rigid commercial packages only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5444"/>
                          </a:solidFill>
                          <a:latin typeface="Arial"/>
                        </a:defRPr>
                      </a:pPr>
                      <a:r>
                        <a:t>45m rail &amp; 150m air locks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2420"/>
                          </a:solidFill>
                          <a:latin typeface="Arial"/>
                        </a:defRPr>
                      </a:pPr>
                      <a:r>
                        <a:t>Transit Tariffs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No Matadors; no fare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Commercial cabs at high markup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5444"/>
                          </a:solidFill>
                          <a:latin typeface="Arial"/>
                        </a:defRPr>
                      </a:pPr>
                      <a:r>
                        <a:t>Matadors (₹10-25) + Taxi matrices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2420"/>
                          </a:solidFill>
                          <a:latin typeface="Arial"/>
                        </a:defRPr>
                      </a:pPr>
                      <a:r>
                        <a:t>Senior &amp; Pilgrim Care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No stair counts or walking load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Generic packages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5444"/>
                          </a:solidFill>
                          <a:latin typeface="Arial"/>
                        </a:defRPr>
                      </a:pPr>
                      <a:r>
                        <a:t>Senior Ease Mode &amp; step-free tags</a:t>
                      </a:r>
                    </a:p>
                  </a:txBody>
                  <a:tcPr>
                    <a:solidFill>
                      <a:srgbClr val="F4EFE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2420"/>
                          </a:solidFill>
                          <a:latin typeface="Arial"/>
                        </a:defRPr>
                      </a:pPr>
                      <a:r>
                        <a:t>Privacy &amp; Data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Ad-tracking &amp; location profiling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C7A73"/>
                          </a:solidFill>
                          <a:latin typeface="Arial"/>
                        </a:defRPr>
                      </a:pPr>
                      <a:r>
                        <a:t>Monetizes user contact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5444"/>
                          </a:solidFill>
                          <a:latin typeface="Arial"/>
                        </a:defRPr>
                      </a:pPr>
                      <a:r>
                        <a:t>Zero cookies, zero surveillance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691640"/>
            <a:ext cx="2651760" cy="438912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explor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05456" cy="424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07 • 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Measurable Economic, Civic, and Social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High-leverage socio-economic returns for pilgrims, local businesses, and municipal transit.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828800" cy="178308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Georgia"/>
              </a:defRPr>
            </a:pPr>
            <a:r>
              <a:t>3x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Dwell Multiplier</a:t>
            </a:r>
          </a:p>
          <a:p>
            <a:pPr>
              <a:defRPr sz="850">
                <a:solidFill>
                  <a:srgbClr val="F4EFE9"/>
                </a:solidFill>
              </a:defRPr>
            </a:pPr>
            <a:r>
              <a:t>Extending stay from &lt;2h to 6-8h via safe circuits.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691640"/>
            <a:ext cx="1828800" cy="178308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Georgia"/>
              </a:defRPr>
            </a:pPr>
            <a:r>
              <a:t>₹150 Cr+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Economic Target</a:t>
            </a:r>
          </a:p>
          <a:p>
            <a:pPr>
              <a:defRPr sz="850">
                <a:solidFill>
                  <a:srgbClr val="F4EFE9"/>
                </a:solidFill>
              </a:defRPr>
            </a:pPr>
            <a:r>
              <a:t>Direct injection into local Dogra food, crafts &amp;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1828800" cy="178308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Georgia"/>
              </a:defRPr>
            </a:pPr>
            <a:r>
              <a:t>₹1,200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Family Savings</a:t>
            </a:r>
          </a:p>
          <a:p>
            <a:pPr>
              <a:defRPr sz="850">
                <a:solidFill>
                  <a:srgbClr val="F4EFE9"/>
                </a:solidFill>
              </a:defRPr>
            </a:pPr>
            <a:r>
              <a:t>Preventing exploitative cab fares and fake crafts.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1828800" cy="178308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1645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Georgia"/>
              </a:defRPr>
            </a:pPr>
            <a:r>
              <a:t>0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Missed Departures</a:t>
            </a:r>
          </a:p>
          <a:p>
            <a:pPr>
              <a:defRPr sz="850">
                <a:solidFill>
                  <a:srgbClr val="F4EFE9"/>
                </a:solidFill>
              </a:defRPr>
            </a:pPr>
            <a:r>
              <a:t>100% adherence to safety return buffers.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7772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7406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5444"/>
                </a:solidFill>
                <a:latin typeface="Georgia"/>
              </a:defRPr>
            </a:pPr>
            <a:r>
              <a:t>🏛️ Cultural &amp; GI Heritage Renaissance</a:t>
            </a:r>
          </a:p>
          <a:p>
            <a:pPr>
              <a:spcAft>
                <a:spcPts val="800"/>
              </a:spcAft>
              <a:defRPr sz="1000">
                <a:solidFill>
                  <a:srgbClr val="6C7A73"/>
                </a:solidFill>
              </a:defRPr>
            </a:pPr>
            <a:r>
              <a:t>Empowers Basohli painters, Pashmina weavers, and Bhaderwah farmers with verified outlet discovery and fake-identification guides. Pilgrims purchase authentic GI certified heritage at fair benchmark prices directly supporting cottage industries.</a:t>
            </a:r>
          </a:p>
          <a:p>
            <a:pPr>
              <a:defRPr sz="1300" b="1">
                <a:solidFill>
                  <a:srgbClr val="085444"/>
                </a:solidFill>
                <a:latin typeface="Georgia"/>
              </a:defRPr>
            </a:pPr>
            <a:r>
              <a:t>🛡️ Public Safety &amp; Yatra Welfare</a:t>
            </a:r>
          </a:p>
          <a:p>
            <a:pPr>
              <a:defRPr sz="1000">
                <a:solidFill>
                  <a:srgbClr val="6C7A73"/>
                </a:solidFill>
              </a:defRPr>
            </a:pPr>
            <a:r>
              <a:t>1-Tap WhatsApp GPS SOS dispatcher and offline dialers for ERSS 112, SMVDSB Shrine Helplines, and women's assistance. Real-time dynamic temple crowd meters and aarti timings prevent stampedes and reduce elder exhaustion during Navratri surges.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691640"/>
            <a:ext cx="2651760" cy="438912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pp_attrac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05456" cy="424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08 •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4-Stage Scalable Deployment Plan (2026 – 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From proven progressive web app &amp; Android build to institutional statewide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772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5444"/>
                </a:solidFill>
              </a:defRPr>
            </a:pPr>
            <a:r>
              <a:t>Phase 1: Foundation (COMPLETED &amp; LIVE)</a:t>
            </a:r>
          </a:p>
          <a:p>
            <a:pPr>
              <a:spcAft>
                <a:spcPts val="1000"/>
              </a:spcAft>
              <a:defRPr sz="1000">
                <a:solidFill>
                  <a:srgbClr val="6C7A73"/>
                </a:solidFill>
              </a:defRPr>
            </a:pPr>
            <a:r>
              <a:t>Live on jammukhoj.in • 100% offline PWA &amp; Android APK • 36+ attractions &amp; 44 automated tests passing • 1-Tap buffer planner &amp; transit matrix.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Phase 2: Transit Node Pilot (Q1-Q2 2027)</a:t>
            </a:r>
          </a:p>
          <a:p>
            <a:pPr>
              <a:spcAft>
                <a:spcPts val="1000"/>
              </a:spcAft>
              <a:defRPr sz="1000">
                <a:solidFill>
                  <a:srgbClr val="6C7A73"/>
                </a:solidFill>
              </a:defRPr>
            </a:pPr>
            <a:r>
              <a:t>QR code touchpoints at Jammu Tawi &amp; Katra concourses • J&amp;K Smart City e-bus live status integration • Onboard 50+ verified local dhabas &amp; GI artisans • Target: 50,000 monthly users.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Phase 3: Institutional Sync (Q3 2027)</a:t>
            </a:r>
          </a:p>
          <a:p>
            <a:pPr>
              <a:spcAft>
                <a:spcPts val="1000"/>
              </a:spcAft>
              <a:defRPr sz="1000">
                <a:solidFill>
                  <a:srgbClr val="6C7A73"/>
                </a:solidFill>
              </a:defRPr>
            </a:pPr>
            <a:r>
              <a:t>Official endorsement by J&amp;K Tourism Directorate • SMVDSB Katra battery-car &amp; RFID status tie-in • Railway Yatri Niwas booking cross-links • Target: 250,000 active yatris.</a:t>
            </a:r>
          </a:p>
          <a:p>
            <a:pPr>
              <a:defRPr sz="1100" b="1">
                <a:solidFill>
                  <a:srgbClr val="9E4A0C"/>
                </a:solidFill>
              </a:defRPr>
            </a:pPr>
            <a:r>
              <a:t>Phase 4: Ecosystem Scale (Q4 2027+)</a:t>
            </a:r>
          </a:p>
          <a:p>
            <a:pPr>
              <a:spcAft>
                <a:spcPts val="1000"/>
              </a:spcAft>
              <a:defRPr sz="1000">
                <a:solidFill>
                  <a:srgbClr val="6C7A73"/>
                </a:solidFill>
              </a:defRPr>
            </a:pPr>
            <a:r>
              <a:t>Expansion to Bhaderwah, Kishtwar, Poonch &amp; Rajouri • Audio heritage guides in Dogri, Hindi &amp; English • Open-source blueprint for other pilgrim hubs (Varanasi, Tirupati).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91640"/>
            <a:ext cx="2651760" cy="438912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offline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05456" cy="424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E4A0C"/>
                </a:solidFill>
                <a:latin typeface="Arial"/>
              </a:defRPr>
            </a:pPr>
            <a:r>
              <a:t>09 • TRUST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85444"/>
                </a:solidFill>
                <a:latin typeface="Georgia"/>
              </a:defRPr>
            </a:pPr>
            <a:r>
              <a:t>Civic Integrity, Zero-Surveillance Privacy &amp; Low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A73"/>
                </a:solidFill>
                <a:latin typeface="Arial"/>
              </a:defRPr>
            </a:pPr>
            <a:r>
              <a:t>Built to protect user privacy and operate sustainably without predatory data monetization.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772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5444"/>
                </a:solidFill>
              </a:defRPr>
            </a:pPr>
            <a:r>
              <a:t>🔒 Zero-Knowledge Privacy (Google Play Compliant)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100% of user data, bookmarks, and custom plans remain strictly on-device in IndexedDB.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Zero tracking cookies, zero third-party telemetry, zero location data monetization.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1-Tap permanent account &amp; local storage wipe button directly in Settings.</a:t>
            </a:r>
          </a:p>
          <a:p>
            <a:pPr>
              <a:spcAft>
                <a:spcPts val="400"/>
              </a:spcAft>
              <a:defRPr sz="1200" b="1">
                <a:solidFill>
                  <a:srgbClr val="085444"/>
                </a:solidFill>
              </a:defRPr>
            </a:pPr>
            <a:r>
              <a:t>🌱 Ultra-Low Resource Footprint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Lightweight 5.5 MB APK and &lt;2 MB compressed web bundle.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Runs smoothly on budget ₹6,000 Android phones without thermal throttling.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OLED-friendly dark mode and high-contrast WCAG 2.1 AA modes save battery during travel.</a:t>
            </a:r>
          </a:p>
          <a:p>
            <a:pPr>
              <a:spcAft>
                <a:spcPts val="400"/>
              </a:spcAft>
              <a:defRPr sz="1200" b="1">
                <a:solidFill>
                  <a:srgbClr val="085444"/>
                </a:solidFill>
              </a:defRPr>
            </a:pPr>
            <a:r>
              <a:t>🤝 Sustainable Public-Private Civic Model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Non-commission directory preventing price distortion for travelers.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Verified artisan and homestay listings supported by J&amp;K Tourism development authorities.</a:t>
            </a:r>
          </a:p>
          <a:p>
            <a:pPr>
              <a:spcAft>
                <a:spcPts val="200"/>
              </a:spcAft>
              <a:defRPr sz="1000">
                <a:solidFill>
                  <a:srgbClr val="6C7A73"/>
                </a:solidFill>
              </a:defRPr>
            </a:pPr>
            <a:r>
              <a:t>•  Open-source data structures contributing back to OpenStreetMap and civic archives.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91640"/>
            <a:ext cx="2651760" cy="4389120"/>
          </a:xfrm>
          <a:prstGeom prst="roundRect">
            <a:avLst/>
          </a:prstGeom>
          <a:solidFill>
            <a:srgbClr val="12181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dogri_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764792"/>
            <a:ext cx="2505456" cy="424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A73"/>
                </a:solidFill>
                <a:latin typeface="Arial"/>
              </a:defRPr>
            </a:pPr>
            <a:r>
              <a:t>JammuKhoj • Smart Tourism &amp; Pilgrim Companion • Live App: https://jammukhoj.in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32120"/>
          </a:xfrm>
          <a:prstGeom prst="roundRect">
            <a:avLst/>
          </a:prstGeom>
          <a:solidFill>
            <a:srgbClr val="0C2D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CLOSING PITCH • PILOT 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Partner with Us to Transform Jammu Tourism</a:t>
            </a:r>
          </a:p>
          <a:p>
            <a:pPr>
              <a:defRPr sz="1500">
                <a:solidFill>
                  <a:srgbClr val="D97706"/>
                </a:solidFill>
              </a:defRPr>
            </a:pPr>
            <a:r>
              <a:t>Let's turn a hurried 2-hour transit rush into an enriching, safe cultural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468880"/>
            <a:ext cx="3154680" cy="21488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2880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1. Transit Signage Pilot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Permission for QR code info panels at Jammu Tawi (JAT) and SVDK Katra station concourses to give yatris instant offline guide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68880"/>
            <a:ext cx="3154680" cy="21488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2880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2. Tourism Dept Data Link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Official co-branding and verification link with Directorate of Tourism, Jammu (TRC) to keep fare tables and festival schedules authoritative.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468880"/>
            <a:ext cx="3154680" cy="2148840"/>
          </a:xfrm>
          <a:prstGeom prst="roundRect">
            <a:avLst/>
          </a:prstGeom>
          <a:solidFill>
            <a:srgbClr val="085444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606040"/>
            <a:ext cx="2880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3. Shrine Board Sync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Collaboration with SMVDSB Katra to integrate battery-car status, aarti timings, and emergency medical aid coordinates.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Live Application: https://jammukhoj.in   •   ✉️ Contact: support@jammukhoj.in</a:t>
            </a:r>
          </a:p>
          <a:p>
            <a:pPr algn="ctr">
              <a:defRPr sz="1050">
                <a:solidFill>
                  <a:srgbClr val="D97706"/>
                </a:solidFill>
              </a:defRPr>
            </a:pPr>
            <a:r>
              <a:t>Open Source • 100% Offline Progressive Web App &amp; Android Ready • Built with Pride for Jammu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